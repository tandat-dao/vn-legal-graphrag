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381250"/>
            <a:ext cx="12192000" cy="228600"/>
          </a:xfrm>
          <a:prstGeom prst="rect">
            <a:avLst/>
          </a:prstGeom>
          <a:noFill/>
        </p:spPr>
        <p:txBody>
          <a:bodyPr wrap="square" lIns="0" rIns="0" tIns="0" bIns="0" anchor="t">
            <a:spAutoFit/>
          </a:bodyPr>
          <a:lstStyle/>
          <a:p>
            <a:pPr algn="ctr"/>
            <a:r>
              <a:rPr sz="1100" b="1" spc="160">
                <a:solidFill>
                  <a:srgbClr val="9EC8F2"/>
                </a:solidFill>
                <a:latin typeface="Calibri"/>
              </a:rPr>
              <a:t>PHẦN BỔ SUNG</a:t>
            </a:r>
          </a:p>
        </p:txBody>
      </p:sp>
      <p:sp>
        <p:nvSpPr>
          <p:cNvPr id="4" name="TextBox 3"/>
          <p:cNvSpPr txBox="1"/>
          <p:nvPr/>
        </p:nvSpPr>
        <p:spPr>
          <a:xfrm>
            <a:off x="0" y="2781300"/>
            <a:ext cx="12192000" cy="973836"/>
          </a:xfrm>
          <a:prstGeom prst="rect">
            <a:avLst/>
          </a:prstGeom>
          <a:noFill/>
        </p:spPr>
        <p:txBody>
          <a:bodyPr wrap="square" lIns="0" rIns="0" tIns="0" bIns="0" anchor="t">
            <a:spAutoFit/>
          </a:bodyPr>
          <a:lstStyle/>
          <a:p>
            <a:pPr algn="ctr"/>
            <a:r>
              <a:rPr sz="5400" b="1">
                <a:solidFill>
                  <a:srgbClr val="FFFFFF"/>
                </a:solidFill>
                <a:latin typeface="Calibri"/>
              </a:rPr>
              <a:t>Cải tiến sau phản biện</a:t>
            </a:r>
          </a:p>
        </p:txBody>
      </p:sp>
      <p:sp>
        <p:nvSpPr>
          <p:cNvPr id="5" name="TextBox 4"/>
          <p:cNvSpPr txBox="1"/>
          <p:nvPr/>
        </p:nvSpPr>
        <p:spPr>
          <a:xfrm>
            <a:off x="3048000" y="3848099"/>
            <a:ext cx="6096000" cy="571500"/>
          </a:xfrm>
          <a:prstGeom prst="rect">
            <a:avLst/>
          </a:prstGeom>
          <a:noFill/>
        </p:spPr>
        <p:txBody>
          <a:bodyPr wrap="square" lIns="0" rIns="0" tIns="0" bIns="0" anchor="t">
            <a:spAutoFit/>
          </a:bodyPr>
          <a:lstStyle/>
          <a:p>
            <a:pPr algn="ctr">
              <a:lnSpc>
                <a:spcPct val="145000"/>
              </a:lnSpc>
            </a:pPr>
            <a:r>
              <a:rPr sz="1500" b="0">
                <a:solidFill>
                  <a:srgbClr val="C5DDF6"/>
                </a:solidFill>
                <a:latin typeface="Calibri"/>
              </a:rPr>
              <a:t>Bốn cơ chế mới ở khâu truy hồi, ba nghiên cứu kiểm chứng, và một lĩnh vực pháp luật chưa từng có trong kho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Vấn đề còn lại sau báo cáo</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4365" y="1342072"/>
            <a:ext cx="3514090" cy="4954905"/>
          </a:xfrm>
          <a:prstGeom prst="roundRect">
            <a:avLst>
              <a:gd name="adj" fmla="val 3523"/>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3915" y="1532572"/>
            <a:ext cx="3094990" cy="252475"/>
          </a:xfrm>
          <a:prstGeom prst="rect">
            <a:avLst/>
          </a:prstGeom>
          <a:noFill/>
        </p:spPr>
        <p:txBody>
          <a:bodyPr wrap="square" lIns="0" rIns="0" tIns="0" bIns="0" anchor="t">
            <a:spAutoFit/>
          </a:bodyPr>
          <a:lstStyle/>
          <a:p>
            <a:pPr algn="l"/>
            <a:r>
              <a:rPr sz="1400" b="1">
                <a:solidFill>
                  <a:srgbClr val="1E3050"/>
                </a:solidFill>
                <a:latin typeface="Calibri"/>
              </a:rPr>
              <a:t>Đúng Điều, sai Khoản</a:t>
            </a:r>
          </a:p>
        </p:txBody>
      </p:sp>
      <p:sp>
        <p:nvSpPr>
          <p:cNvPr id="7" name="Rounded Rectangle 6"/>
          <p:cNvSpPr/>
          <p:nvPr/>
        </p:nvSpPr>
        <p:spPr>
          <a:xfrm>
            <a:off x="843915" y="1875472"/>
            <a:ext cx="3094990" cy="1676400"/>
          </a:xfrm>
          <a:prstGeom prst="roundRect">
            <a:avLst>
              <a:gd name="adj" fmla="val 4545"/>
            </a:avLst>
          </a:prstGeom>
          <a:solidFill>
            <a:srgbClr val="FFFFFF"/>
          </a:solidFill>
          <a:ln w="12700">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315" y="2046922"/>
            <a:ext cx="1524000" cy="234441"/>
          </a:xfrm>
          <a:prstGeom prst="rect">
            <a:avLst/>
          </a:prstGeom>
          <a:noFill/>
        </p:spPr>
        <p:txBody>
          <a:bodyPr wrap="square" lIns="0" rIns="0" tIns="0" bIns="0" anchor="t">
            <a:spAutoFit/>
          </a:bodyPr>
          <a:lstStyle/>
          <a:p>
            <a:pPr algn="l"/>
            <a:r>
              <a:rPr sz="1300" b="1">
                <a:solidFill>
                  <a:srgbClr val="1E3050"/>
                </a:solidFill>
                <a:latin typeface="Calibri"/>
              </a:rPr>
              <a:t>Điều 138</a:t>
            </a:r>
          </a:p>
        </p:txBody>
      </p:sp>
      <p:sp>
        <p:nvSpPr>
          <p:cNvPr id="9" name="Rounded Rectangle 8"/>
          <p:cNvSpPr/>
          <p:nvPr/>
        </p:nvSpPr>
        <p:spPr>
          <a:xfrm>
            <a:off x="3024504" y="2027872"/>
            <a:ext cx="762000" cy="190500"/>
          </a:xfrm>
          <a:prstGeom prst="roundRect">
            <a:avLst>
              <a:gd name="adj" fmla="val 50000"/>
            </a:avLst>
          </a:prstGeom>
          <a:solidFill>
            <a:srgbClr val="DF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4504" y="2056447"/>
            <a:ext cx="762000" cy="171322"/>
          </a:xfrm>
          <a:prstGeom prst="rect">
            <a:avLst/>
          </a:prstGeom>
          <a:noFill/>
        </p:spPr>
        <p:txBody>
          <a:bodyPr wrap="square" lIns="0" rIns="0" tIns="0" bIns="0" anchor="t">
            <a:spAutoFit/>
          </a:bodyPr>
          <a:lstStyle/>
          <a:p>
            <a:pPr algn="ctr"/>
            <a:r>
              <a:rPr sz="950" b="1">
                <a:solidFill>
                  <a:srgbClr val="2E7D32"/>
                </a:solidFill>
                <a:latin typeface="Calibri"/>
              </a:rPr>
              <a:t>đúng</a:t>
            </a:r>
          </a:p>
        </p:txBody>
      </p:sp>
      <p:sp>
        <p:nvSpPr>
          <p:cNvPr id="11" name="Rounded Rectangle 10"/>
          <p:cNvSpPr/>
          <p:nvPr/>
        </p:nvSpPr>
        <p:spPr>
          <a:xfrm>
            <a:off x="996315" y="2332672"/>
            <a:ext cx="2790190" cy="228600"/>
          </a:xfrm>
          <a:prstGeom prst="roundRect">
            <a:avLst>
              <a:gd name="adj" fmla="val 20833"/>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1564" y="2370772"/>
            <a:ext cx="1143000" cy="198373"/>
          </a:xfrm>
          <a:prstGeom prst="rect">
            <a:avLst/>
          </a:prstGeom>
          <a:noFill/>
        </p:spPr>
        <p:txBody>
          <a:bodyPr wrap="square" lIns="0" rIns="0" tIns="0" bIns="0" anchor="t">
            <a:spAutoFit/>
          </a:bodyPr>
          <a:lstStyle/>
          <a:p>
            <a:pPr algn="l"/>
            <a:r>
              <a:rPr sz="1100" b="0">
                <a:solidFill>
                  <a:srgbClr val="8892A4"/>
                </a:solidFill>
                <a:latin typeface="Calibri"/>
              </a:rPr>
              <a:t>Khoản 1</a:t>
            </a:r>
          </a:p>
        </p:txBody>
      </p:sp>
      <p:sp>
        <p:nvSpPr>
          <p:cNvPr id="13" name="Rounded Rectangle 12"/>
          <p:cNvSpPr/>
          <p:nvPr/>
        </p:nvSpPr>
        <p:spPr>
          <a:xfrm>
            <a:off x="996315" y="2618422"/>
            <a:ext cx="2790190" cy="228600"/>
          </a:xfrm>
          <a:prstGeom prst="roundRect">
            <a:avLst>
              <a:gd name="adj" fmla="val 20833"/>
            </a:avLst>
          </a:prstGeom>
          <a:solidFill>
            <a:srgbClr val="FBEAE8"/>
          </a:solidFill>
          <a:ln w="12700">
            <a:solidFill>
              <a:srgbClr val="E0A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1564" y="2656522"/>
            <a:ext cx="1143000" cy="198373"/>
          </a:xfrm>
          <a:prstGeom prst="rect">
            <a:avLst/>
          </a:prstGeom>
          <a:noFill/>
        </p:spPr>
        <p:txBody>
          <a:bodyPr wrap="square" lIns="0" rIns="0" tIns="0" bIns="0" anchor="t">
            <a:spAutoFit/>
          </a:bodyPr>
          <a:lstStyle/>
          <a:p>
            <a:pPr algn="l"/>
            <a:r>
              <a:rPr sz="1100" b="1">
                <a:solidFill>
                  <a:srgbClr val="C0392B"/>
                </a:solidFill>
                <a:latin typeface="Calibri"/>
              </a:rPr>
              <a:t>Khoản 2</a:t>
            </a:r>
          </a:p>
        </p:txBody>
      </p:sp>
      <p:sp>
        <p:nvSpPr>
          <p:cNvPr id="15" name="TextBox 14"/>
          <p:cNvSpPr txBox="1"/>
          <p:nvPr/>
        </p:nvSpPr>
        <p:spPr>
          <a:xfrm>
            <a:off x="2624454" y="2666047"/>
            <a:ext cx="1047749" cy="171322"/>
          </a:xfrm>
          <a:prstGeom prst="rect">
            <a:avLst/>
          </a:prstGeom>
          <a:noFill/>
        </p:spPr>
        <p:txBody>
          <a:bodyPr wrap="square" lIns="0" rIns="0" tIns="0" bIns="0" anchor="t">
            <a:spAutoFit/>
          </a:bodyPr>
          <a:lstStyle/>
          <a:p>
            <a:pPr algn="r"/>
            <a:r>
              <a:rPr sz="950" b="1">
                <a:solidFill>
                  <a:srgbClr val="C0392B"/>
                </a:solidFill>
                <a:latin typeface="Calibri"/>
              </a:rPr>
              <a:t>hệ chọn</a:t>
            </a:r>
          </a:p>
        </p:txBody>
      </p:sp>
      <p:sp>
        <p:nvSpPr>
          <p:cNvPr id="16" name="Rounded Rectangle 15"/>
          <p:cNvSpPr/>
          <p:nvPr/>
        </p:nvSpPr>
        <p:spPr>
          <a:xfrm>
            <a:off x="996315" y="2904172"/>
            <a:ext cx="2790190" cy="228600"/>
          </a:xfrm>
          <a:prstGeom prst="roundRect">
            <a:avLst>
              <a:gd name="adj" fmla="val 20833"/>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1564" y="2942272"/>
            <a:ext cx="1143000" cy="198373"/>
          </a:xfrm>
          <a:prstGeom prst="rect">
            <a:avLst/>
          </a:prstGeom>
          <a:noFill/>
        </p:spPr>
        <p:txBody>
          <a:bodyPr wrap="square" lIns="0" rIns="0" tIns="0" bIns="0" anchor="t">
            <a:spAutoFit/>
          </a:bodyPr>
          <a:lstStyle/>
          <a:p>
            <a:pPr algn="l"/>
            <a:r>
              <a:rPr sz="1100" b="0">
                <a:solidFill>
                  <a:srgbClr val="8892A4"/>
                </a:solidFill>
                <a:latin typeface="Calibri"/>
              </a:rPr>
              <a:t>Khoản 3</a:t>
            </a:r>
          </a:p>
        </p:txBody>
      </p:sp>
      <p:sp>
        <p:nvSpPr>
          <p:cNvPr id="18" name="Rounded Rectangle 17"/>
          <p:cNvSpPr/>
          <p:nvPr/>
        </p:nvSpPr>
        <p:spPr>
          <a:xfrm>
            <a:off x="996315" y="3189922"/>
            <a:ext cx="2790190" cy="228600"/>
          </a:xfrm>
          <a:prstGeom prst="roundRect">
            <a:avLst>
              <a:gd name="adj" fmla="val 20833"/>
            </a:avLst>
          </a:prstGeom>
          <a:solidFill>
            <a:srgbClr val="D8E7F8"/>
          </a:solidFill>
          <a:ln w="12700">
            <a:solidFill>
              <a:srgbClr val="8FB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1564" y="3228022"/>
            <a:ext cx="1143000" cy="198373"/>
          </a:xfrm>
          <a:prstGeom prst="rect">
            <a:avLst/>
          </a:prstGeom>
          <a:noFill/>
        </p:spPr>
        <p:txBody>
          <a:bodyPr wrap="square" lIns="0" rIns="0" tIns="0" bIns="0" anchor="t">
            <a:spAutoFit/>
          </a:bodyPr>
          <a:lstStyle/>
          <a:p>
            <a:pPr algn="l"/>
            <a:r>
              <a:rPr sz="1100" b="1">
                <a:solidFill>
                  <a:srgbClr val="1554A5"/>
                </a:solidFill>
                <a:latin typeface="Calibri"/>
              </a:rPr>
              <a:t>Khoản 5</a:t>
            </a:r>
          </a:p>
        </p:txBody>
      </p:sp>
      <p:sp>
        <p:nvSpPr>
          <p:cNvPr id="20" name="TextBox 19"/>
          <p:cNvSpPr txBox="1"/>
          <p:nvPr/>
        </p:nvSpPr>
        <p:spPr>
          <a:xfrm>
            <a:off x="2624454" y="3237547"/>
            <a:ext cx="1047749" cy="171322"/>
          </a:xfrm>
          <a:prstGeom prst="rect">
            <a:avLst/>
          </a:prstGeom>
          <a:noFill/>
        </p:spPr>
        <p:txBody>
          <a:bodyPr wrap="square" lIns="0" rIns="0" tIns="0" bIns="0" anchor="t">
            <a:spAutoFit/>
          </a:bodyPr>
          <a:lstStyle/>
          <a:p>
            <a:pPr algn="r"/>
            <a:r>
              <a:rPr sz="950" b="1">
                <a:solidFill>
                  <a:srgbClr val="1554A5"/>
                </a:solidFill>
                <a:latin typeface="Calibri"/>
              </a:rPr>
              <a:t>đáp án</a:t>
            </a:r>
          </a:p>
        </p:txBody>
      </p:sp>
      <p:sp>
        <p:nvSpPr>
          <p:cNvPr id="21" name="TextBox 20"/>
          <p:cNvSpPr txBox="1"/>
          <p:nvPr/>
        </p:nvSpPr>
        <p:spPr>
          <a:xfrm>
            <a:off x="843915" y="3723322"/>
            <a:ext cx="1047749" cy="541020"/>
          </a:xfrm>
          <a:prstGeom prst="rect">
            <a:avLst/>
          </a:prstGeom>
          <a:noFill/>
        </p:spPr>
        <p:txBody>
          <a:bodyPr wrap="square" lIns="0" rIns="0" tIns="0" bIns="0" anchor="t">
            <a:spAutoFit/>
          </a:bodyPr>
          <a:lstStyle/>
          <a:p>
            <a:pPr algn="l"/>
            <a:r>
              <a:rPr sz="2100" b="1">
                <a:solidFill>
                  <a:srgbClr val="5A6B85"/>
                </a:solidFill>
                <a:latin typeface="Calibri"/>
              </a:rPr>
              <a:t>0,806</a:t>
            </a:r>
          </a:p>
          <a:p>
            <a:pPr algn="l"/>
            <a:r>
              <a:rPr sz="900" b="0">
                <a:solidFill>
                  <a:srgbClr val="5A6B85"/>
                </a:solidFill>
                <a:latin typeface="Calibri"/>
              </a:rPr>
              <a:t>đúng Điều</a:t>
            </a:r>
          </a:p>
        </p:txBody>
      </p:sp>
      <p:sp>
        <p:nvSpPr>
          <p:cNvPr id="22" name="TextBox 21"/>
          <p:cNvSpPr txBox="1"/>
          <p:nvPr/>
        </p:nvSpPr>
        <p:spPr>
          <a:xfrm>
            <a:off x="1891665" y="3723322"/>
            <a:ext cx="1047749" cy="541020"/>
          </a:xfrm>
          <a:prstGeom prst="rect">
            <a:avLst/>
          </a:prstGeom>
          <a:noFill/>
        </p:spPr>
        <p:txBody>
          <a:bodyPr wrap="square" lIns="0" rIns="0" tIns="0" bIns="0" anchor="t">
            <a:spAutoFit/>
          </a:bodyPr>
          <a:lstStyle/>
          <a:p>
            <a:pPr algn="l"/>
            <a:r>
              <a:rPr sz="2100" b="1">
                <a:solidFill>
                  <a:srgbClr val="C0392B"/>
                </a:solidFill>
                <a:latin typeface="Calibri"/>
              </a:rPr>
              <a:t>0,737</a:t>
            </a:r>
          </a:p>
          <a:p>
            <a:pPr algn="l"/>
            <a:r>
              <a:rPr sz="900" b="0">
                <a:solidFill>
                  <a:srgbClr val="5A6B85"/>
                </a:solidFill>
                <a:latin typeface="Calibri"/>
              </a:rPr>
              <a:t>đúng Khoản</a:t>
            </a:r>
          </a:p>
        </p:txBody>
      </p:sp>
      <p:sp>
        <p:nvSpPr>
          <p:cNvPr id="23" name="TextBox 22"/>
          <p:cNvSpPr txBox="1"/>
          <p:nvPr/>
        </p:nvSpPr>
        <p:spPr>
          <a:xfrm>
            <a:off x="843915" y="4218622"/>
            <a:ext cx="3094990" cy="571500"/>
          </a:xfrm>
          <a:prstGeom prst="rect">
            <a:avLst/>
          </a:prstGeom>
          <a:noFill/>
        </p:spPr>
        <p:txBody>
          <a:bodyPr wrap="square" lIns="0" rIns="0" tIns="0" bIns="0" anchor="t">
            <a:spAutoFit/>
          </a:bodyPr>
          <a:lstStyle/>
          <a:p>
            <a:pPr algn="l">
              <a:lnSpc>
                <a:spcPct val="135000"/>
              </a:lnSpc>
            </a:pPr>
            <a:r>
              <a:rPr sz="1000" b="0">
                <a:solidFill>
                  <a:srgbClr val="5A6B85"/>
                </a:solidFill>
                <a:latin typeface="Calibri"/>
              </a:rPr>
              <a:t>Một điều luật có hàng chục khoản cho những trường hợp khác nhau — </a:t>
            </a:r>
            <a:r>
              <a:rPr sz="1000" b="1">
                <a:solidFill>
                  <a:srgbClr val="1E3050"/>
                </a:solidFill>
                <a:latin typeface="Calibri"/>
              </a:rPr>
              <a:t>sai khoản là sai câu trả lời</a:t>
            </a:r>
            <a:r>
              <a:rPr sz="1000" b="0">
                <a:solidFill>
                  <a:srgbClr val="5A6B85"/>
                </a:solidFill>
                <a:latin typeface="Calibri"/>
              </a:rPr>
              <a:t>.</a:t>
            </a:r>
          </a:p>
        </p:txBody>
      </p:sp>
      <p:sp>
        <p:nvSpPr>
          <p:cNvPr id="24" name="Rounded Rectangle 23"/>
          <p:cNvSpPr/>
          <p:nvPr/>
        </p:nvSpPr>
        <p:spPr>
          <a:xfrm>
            <a:off x="4338955" y="1342072"/>
            <a:ext cx="3514090" cy="4954905"/>
          </a:xfrm>
          <a:prstGeom prst="roundRect">
            <a:avLst>
              <a:gd name="adj" fmla="val 3523"/>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48505" y="1532572"/>
            <a:ext cx="3094990" cy="252475"/>
          </a:xfrm>
          <a:prstGeom prst="rect">
            <a:avLst/>
          </a:prstGeom>
          <a:noFill/>
        </p:spPr>
        <p:txBody>
          <a:bodyPr wrap="square" lIns="0" rIns="0" tIns="0" bIns="0" anchor="t">
            <a:spAutoFit/>
          </a:bodyPr>
          <a:lstStyle/>
          <a:p>
            <a:pPr algn="l"/>
            <a:r>
              <a:rPr sz="1400" b="1">
                <a:solidFill>
                  <a:srgbClr val="1E3050"/>
                </a:solidFill>
                <a:latin typeface="Calibri"/>
              </a:rPr>
              <a:t>Bộ lọc loại nhầm</a:t>
            </a:r>
          </a:p>
        </p:txBody>
      </p:sp>
      <p:sp>
        <p:nvSpPr>
          <p:cNvPr id="26" name="Rounded Rectangle 25"/>
          <p:cNvSpPr/>
          <p:nvPr/>
        </p:nvSpPr>
        <p:spPr>
          <a:xfrm>
            <a:off x="4548505" y="1913572"/>
            <a:ext cx="3094990" cy="514350"/>
          </a:xfrm>
          <a:prstGeom prst="roundRect">
            <a:avLst>
              <a:gd name="adj" fmla="val 14814"/>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1855" y="2008822"/>
            <a:ext cx="2828290" cy="198373"/>
          </a:xfrm>
          <a:prstGeom prst="rect">
            <a:avLst/>
          </a:prstGeom>
          <a:noFill/>
        </p:spPr>
        <p:txBody>
          <a:bodyPr wrap="square" lIns="0" rIns="0" tIns="0" bIns="0" anchor="t">
            <a:spAutoFit/>
          </a:bodyPr>
          <a:lstStyle/>
          <a:p>
            <a:pPr algn="l"/>
            <a:r>
              <a:rPr sz="1100" b="1">
                <a:solidFill>
                  <a:srgbClr val="C0392B"/>
                </a:solidFill>
                <a:latin typeface="Calibri"/>
              </a:rPr>
              <a:t>Mốc thời gian quá khứ</a:t>
            </a:r>
          </a:p>
        </p:txBody>
      </p:sp>
      <p:sp>
        <p:nvSpPr>
          <p:cNvPr id="28" name="TextBox 27"/>
          <p:cNvSpPr txBox="1"/>
          <p:nvPr/>
        </p:nvSpPr>
        <p:spPr>
          <a:xfrm>
            <a:off x="4681855" y="2199322"/>
            <a:ext cx="2828290" cy="171450"/>
          </a:xfrm>
          <a:prstGeom prst="rect">
            <a:avLst/>
          </a:prstGeom>
          <a:noFill/>
        </p:spPr>
        <p:txBody>
          <a:bodyPr wrap="square" lIns="0" rIns="0" tIns="0" bIns="0" anchor="t">
            <a:spAutoFit/>
          </a:bodyPr>
          <a:lstStyle/>
          <a:p>
            <a:pPr algn="l"/>
            <a:r>
              <a:rPr sz="950" b="0">
                <a:solidFill>
                  <a:srgbClr val="A8564C"/>
                </a:solidFill>
                <a:latin typeface="Calibri"/>
              </a:rPr>
              <a:t>lọc hiệu lực lấy nhầm năm → rỗng</a:t>
            </a:r>
          </a:p>
        </p:txBody>
      </p:sp>
      <p:sp>
        <p:nvSpPr>
          <p:cNvPr id="29" name="Rounded Rectangle 28"/>
          <p:cNvSpPr/>
          <p:nvPr/>
        </p:nvSpPr>
        <p:spPr>
          <a:xfrm>
            <a:off x="4548505" y="2504122"/>
            <a:ext cx="3094990" cy="514350"/>
          </a:xfrm>
          <a:prstGeom prst="roundRect">
            <a:avLst>
              <a:gd name="adj" fmla="val 14814"/>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855" y="2599372"/>
            <a:ext cx="2828290" cy="198373"/>
          </a:xfrm>
          <a:prstGeom prst="rect">
            <a:avLst/>
          </a:prstGeom>
          <a:noFill/>
        </p:spPr>
        <p:txBody>
          <a:bodyPr wrap="square" lIns="0" rIns="0" tIns="0" bIns="0" anchor="t">
            <a:spAutoFit/>
          </a:bodyPr>
          <a:lstStyle/>
          <a:p>
            <a:pPr algn="l"/>
            <a:r>
              <a:rPr sz="1100" b="1">
                <a:solidFill>
                  <a:srgbClr val="C0392B"/>
                </a:solidFill>
                <a:latin typeface="Calibri"/>
              </a:rPr>
              <a:t>Thủ tục ngoài sáu thủ tục</a:t>
            </a:r>
          </a:p>
        </p:txBody>
      </p:sp>
      <p:sp>
        <p:nvSpPr>
          <p:cNvPr id="31" name="TextBox 30"/>
          <p:cNvSpPr txBox="1"/>
          <p:nvPr/>
        </p:nvSpPr>
        <p:spPr>
          <a:xfrm>
            <a:off x="4681855" y="2789872"/>
            <a:ext cx="2828290" cy="171450"/>
          </a:xfrm>
          <a:prstGeom prst="rect">
            <a:avLst/>
          </a:prstGeom>
          <a:noFill/>
        </p:spPr>
        <p:txBody>
          <a:bodyPr wrap="square" lIns="0" rIns="0" tIns="0" bIns="0" anchor="t">
            <a:spAutoFit/>
          </a:bodyPr>
          <a:lstStyle/>
          <a:p>
            <a:pPr algn="l"/>
            <a:r>
              <a:rPr sz="950" b="0">
                <a:solidFill>
                  <a:srgbClr val="A8564C"/>
                </a:solidFill>
                <a:latin typeface="Calibri"/>
              </a:rPr>
              <a:t>giám hộ · khai tử · cải chính → rỗng</a:t>
            </a:r>
          </a:p>
        </p:txBody>
      </p:sp>
      <p:sp>
        <p:nvSpPr>
          <p:cNvPr id="32" name="Rounded Rectangle 31"/>
          <p:cNvSpPr/>
          <p:nvPr/>
        </p:nvSpPr>
        <p:spPr>
          <a:xfrm>
            <a:off x="4548505" y="3094672"/>
            <a:ext cx="3094990" cy="514350"/>
          </a:xfrm>
          <a:prstGeom prst="roundRect">
            <a:avLst>
              <a:gd name="adj" fmla="val 14814"/>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1855" y="3189922"/>
            <a:ext cx="2828290" cy="198373"/>
          </a:xfrm>
          <a:prstGeom prst="rect">
            <a:avLst/>
          </a:prstGeom>
          <a:noFill/>
        </p:spPr>
        <p:txBody>
          <a:bodyPr wrap="square" lIns="0" rIns="0" tIns="0" bIns="0" anchor="t">
            <a:spAutoFit/>
          </a:bodyPr>
          <a:lstStyle/>
          <a:p>
            <a:pPr algn="l"/>
            <a:r>
              <a:rPr sz="1100" b="1">
                <a:solidFill>
                  <a:srgbClr val="1E3050"/>
                </a:solidFill>
                <a:latin typeface="Calibri"/>
              </a:rPr>
              <a:t>Câu không nêu tỉnh</a:t>
            </a:r>
          </a:p>
        </p:txBody>
      </p:sp>
      <p:sp>
        <p:nvSpPr>
          <p:cNvPr id="34" name="TextBox 33"/>
          <p:cNvSpPr txBox="1"/>
          <p:nvPr/>
        </p:nvSpPr>
        <p:spPr>
          <a:xfrm>
            <a:off x="4681855" y="3380422"/>
            <a:ext cx="2828290" cy="171450"/>
          </a:xfrm>
          <a:prstGeom prst="rect">
            <a:avLst/>
          </a:prstGeom>
          <a:noFill/>
        </p:spPr>
        <p:txBody>
          <a:bodyPr wrap="square" lIns="0" rIns="0" tIns="0" bIns="0" anchor="t">
            <a:spAutoFit/>
          </a:bodyPr>
          <a:lstStyle/>
          <a:p>
            <a:pPr algn="l"/>
            <a:r>
              <a:rPr sz="950" b="0">
                <a:solidFill>
                  <a:srgbClr val="5A6B85"/>
                </a:solidFill>
                <a:latin typeface="Calibri"/>
              </a:rPr>
              <a:t>gán cứng toàn quốc → mất văn bản tỉnh</a:t>
            </a:r>
          </a:p>
        </p:txBody>
      </p:sp>
      <p:sp>
        <p:nvSpPr>
          <p:cNvPr id="35" name="Rounded Rectangle 34"/>
          <p:cNvSpPr/>
          <p:nvPr/>
        </p:nvSpPr>
        <p:spPr>
          <a:xfrm>
            <a:off x="4548505" y="3723322"/>
            <a:ext cx="3094990" cy="342900"/>
          </a:xfrm>
          <a:prstGeom prst="roundRect">
            <a:avLst>
              <a:gd name="adj" fmla="val 22222"/>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48505" y="3809047"/>
            <a:ext cx="3094990" cy="198373"/>
          </a:xfrm>
          <a:prstGeom prst="rect">
            <a:avLst/>
          </a:prstGeom>
          <a:noFill/>
        </p:spPr>
        <p:txBody>
          <a:bodyPr wrap="square" lIns="0" rIns="0" tIns="0" bIns="0" anchor="t">
            <a:spAutoFit/>
          </a:bodyPr>
          <a:lstStyle/>
          <a:p>
            <a:pPr algn="ctr"/>
            <a:r>
              <a:rPr sz="1100" b="1">
                <a:solidFill>
                  <a:srgbClr val="FFFFFF"/>
                </a:solidFill>
                <a:latin typeface="Calibri"/>
              </a:rPr>
              <a:t>hai kiểu hỏng khác nhau</a:t>
            </a:r>
          </a:p>
        </p:txBody>
      </p:sp>
      <p:sp>
        <p:nvSpPr>
          <p:cNvPr id="37" name="TextBox 36"/>
          <p:cNvSpPr txBox="1"/>
          <p:nvPr/>
        </p:nvSpPr>
        <p:spPr>
          <a:xfrm>
            <a:off x="4548505" y="4218622"/>
            <a:ext cx="3094990" cy="571500"/>
          </a:xfrm>
          <a:prstGeom prst="rect">
            <a:avLst/>
          </a:prstGeom>
          <a:noFill/>
        </p:spPr>
        <p:txBody>
          <a:bodyPr wrap="square" lIns="0" rIns="0" tIns="0" bIns="0" anchor="t">
            <a:spAutoFit/>
          </a:bodyPr>
          <a:lstStyle/>
          <a:p>
            <a:pPr algn="l">
              <a:lnSpc>
                <a:spcPct val="135000"/>
              </a:lnSpc>
            </a:pPr>
            <a:r>
              <a:rPr sz="1000" b="0">
                <a:solidFill>
                  <a:srgbClr val="5A6B85"/>
                </a:solidFill>
                <a:latin typeface="Calibri"/>
              </a:rPr>
              <a:t>Hai nhóm đầu </a:t>
            </a:r>
            <a:r>
              <a:rPr sz="1000" b="1">
                <a:solidFill>
                  <a:srgbClr val="1E3050"/>
                </a:solidFill>
                <a:latin typeface="Calibri"/>
              </a:rPr>
              <a:t>không tìm được văn bản nào</a:t>
            </a:r>
            <a:r>
              <a:rPr sz="1000" b="0">
                <a:solidFill>
                  <a:srgbClr val="5A6B85"/>
                </a:solidFill>
                <a:latin typeface="Calibri"/>
              </a:rPr>
              <a:t>; nhóm thứ ba có ngữ cảnh nhưng thiếu đúng phần cần.</a:t>
            </a:r>
          </a:p>
        </p:txBody>
      </p:sp>
      <p:sp>
        <p:nvSpPr>
          <p:cNvPr id="38" name="Rounded Rectangle 37"/>
          <p:cNvSpPr/>
          <p:nvPr/>
        </p:nvSpPr>
        <p:spPr>
          <a:xfrm>
            <a:off x="8043545" y="1342072"/>
            <a:ext cx="3514090" cy="4954905"/>
          </a:xfrm>
          <a:prstGeom prst="roundRect">
            <a:avLst>
              <a:gd name="adj" fmla="val 3523"/>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53095" y="1532572"/>
            <a:ext cx="3094990" cy="252475"/>
          </a:xfrm>
          <a:prstGeom prst="rect">
            <a:avLst/>
          </a:prstGeom>
          <a:noFill/>
        </p:spPr>
        <p:txBody>
          <a:bodyPr wrap="square" lIns="0" rIns="0" tIns="0" bIns="0" anchor="t">
            <a:spAutoFit/>
          </a:bodyPr>
          <a:lstStyle/>
          <a:p>
            <a:pPr algn="l"/>
            <a:r>
              <a:rPr sz="1400" b="1">
                <a:solidFill>
                  <a:srgbClr val="1E3050"/>
                </a:solidFill>
                <a:latin typeface="Calibri"/>
              </a:rPr>
              <a:t>Không thấy quy định đã đổi</a:t>
            </a:r>
          </a:p>
        </p:txBody>
      </p:sp>
      <p:sp>
        <p:nvSpPr>
          <p:cNvPr id="40" name="Rounded Rectangle 39"/>
          <p:cNvSpPr/>
          <p:nvPr/>
        </p:nvSpPr>
        <p:spPr>
          <a:xfrm>
            <a:off x="8253095" y="1913572"/>
            <a:ext cx="3094990" cy="285750"/>
          </a:xfrm>
          <a:prstGeom prst="roundRect">
            <a:avLst>
              <a:gd name="adj" fmla="val 23333"/>
            </a:avLst>
          </a:prstGeom>
          <a:solidFill>
            <a:srgbClr val="EDEFF3"/>
          </a:solidFill>
          <a:ln w="12700">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53095" y="1980247"/>
            <a:ext cx="3094990" cy="180339"/>
          </a:xfrm>
          <a:prstGeom prst="rect">
            <a:avLst/>
          </a:prstGeom>
          <a:noFill/>
        </p:spPr>
        <p:txBody>
          <a:bodyPr wrap="square" lIns="0" rIns="0" tIns="0" bIns="0" anchor="t">
            <a:spAutoFit/>
          </a:bodyPr>
          <a:lstStyle/>
          <a:p>
            <a:pPr algn="ctr"/>
            <a:r>
              <a:rPr sz="1000" b="0">
                <a:solidFill>
                  <a:srgbClr val="96A1B4"/>
                </a:solidFill>
                <a:latin typeface="Calibri"/>
              </a:rPr>
              <a:t>(không có cảnh báo)</a:t>
            </a:r>
          </a:p>
        </p:txBody>
      </p:sp>
      <p:sp>
        <p:nvSpPr>
          <p:cNvPr id="42" name="Rounded Rectangle 41"/>
          <p:cNvSpPr/>
          <p:nvPr/>
        </p:nvSpPr>
        <p:spPr>
          <a:xfrm>
            <a:off x="8253095" y="2313622"/>
            <a:ext cx="3094990" cy="1219200"/>
          </a:xfrm>
          <a:prstGeom prst="roundRect">
            <a:avLst>
              <a:gd name="adj" fmla="val 6250"/>
            </a:avLst>
          </a:prstGeom>
          <a:solidFill>
            <a:srgbClr val="FFFFFF"/>
          </a:solidFill>
          <a:ln w="12700">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24545" y="2485072"/>
            <a:ext cx="2752090" cy="198373"/>
          </a:xfrm>
          <a:prstGeom prst="rect">
            <a:avLst/>
          </a:prstGeom>
          <a:noFill/>
        </p:spPr>
        <p:txBody>
          <a:bodyPr wrap="square" lIns="0" rIns="0" tIns="0" bIns="0" anchor="t">
            <a:spAutoFit/>
          </a:bodyPr>
          <a:lstStyle/>
          <a:p>
            <a:pPr algn="l"/>
            <a:r>
              <a:rPr sz="1100" b="1">
                <a:solidFill>
                  <a:srgbClr val="1E3050"/>
                </a:solidFill>
                <a:latin typeface="Calibri"/>
              </a:rPr>
              <a:t>Hạn mức là 250 m²/cá nhân</a:t>
            </a:r>
          </a:p>
        </p:txBody>
      </p:sp>
      <p:sp>
        <p:nvSpPr>
          <p:cNvPr id="44" name="Rounded Rectangle 43"/>
          <p:cNvSpPr/>
          <p:nvPr/>
        </p:nvSpPr>
        <p:spPr>
          <a:xfrm>
            <a:off x="8424545" y="2770822"/>
            <a:ext cx="2553939" cy="66675"/>
          </a:xfrm>
          <a:prstGeom prst="roundRect">
            <a:avLst>
              <a:gd name="adj" fmla="val 50000"/>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424545" y="2913697"/>
            <a:ext cx="2157638" cy="66675"/>
          </a:xfrm>
          <a:prstGeom prst="roundRect">
            <a:avLst>
              <a:gd name="adj" fmla="val 50000"/>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424545" y="3056572"/>
            <a:ext cx="2355789" cy="66675"/>
          </a:xfrm>
          <a:prstGeom prst="roundRect">
            <a:avLst>
              <a:gd name="adj" fmla="val 50000"/>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424545" y="3247072"/>
            <a:ext cx="1428750" cy="171450"/>
          </a:xfrm>
          <a:prstGeom prst="roundRect">
            <a:avLst>
              <a:gd name="adj" fmla="val 22222"/>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0745" y="3275647"/>
            <a:ext cx="1333500" cy="162306"/>
          </a:xfrm>
          <a:prstGeom prst="rect">
            <a:avLst/>
          </a:prstGeom>
          <a:noFill/>
        </p:spPr>
        <p:txBody>
          <a:bodyPr wrap="square" lIns="0" rIns="0" tIns="0" bIns="0" anchor="t">
            <a:spAutoFit/>
          </a:bodyPr>
          <a:lstStyle/>
          <a:p>
            <a:pPr algn="l"/>
            <a:r>
              <a:rPr sz="900" b="1">
                <a:solidFill>
                  <a:srgbClr val="1554A5"/>
                </a:solidFill>
                <a:latin typeface="Calibri"/>
              </a:rPr>
              <a:t>QĐ 69/2024</a:t>
            </a:r>
          </a:p>
        </p:txBody>
      </p:sp>
      <p:sp>
        <p:nvSpPr>
          <p:cNvPr id="49" name="TextBox 48"/>
          <p:cNvSpPr txBox="1"/>
          <p:nvPr/>
        </p:nvSpPr>
        <p:spPr>
          <a:xfrm>
            <a:off x="8253095" y="4218622"/>
            <a:ext cx="3094990" cy="571500"/>
          </a:xfrm>
          <a:prstGeom prst="rect">
            <a:avLst/>
          </a:prstGeom>
          <a:noFill/>
        </p:spPr>
        <p:txBody>
          <a:bodyPr wrap="square" lIns="0" rIns="0" tIns="0" bIns="0" anchor="t">
            <a:spAutoFit/>
          </a:bodyPr>
          <a:lstStyle/>
          <a:p>
            <a:pPr algn="l">
              <a:lnSpc>
                <a:spcPct val="135000"/>
              </a:lnSpc>
            </a:pPr>
            <a:r>
              <a:rPr sz="1000" b="0">
                <a:solidFill>
                  <a:srgbClr val="5A6B85"/>
                </a:solidFill>
                <a:latin typeface="Calibri"/>
              </a:rPr>
              <a:t>Người đã nộp hồ sơ trước ngày đổi </a:t>
            </a:r>
            <a:r>
              <a:rPr sz="1000" b="1">
                <a:solidFill>
                  <a:srgbClr val="1E3050"/>
                </a:solidFill>
                <a:latin typeface="Calibri"/>
              </a:rPr>
              <a:t>không được báo</a:t>
            </a:r>
            <a:r>
              <a:rPr sz="1000" b="0">
                <a:solidFill>
                  <a:srgbClr val="5A6B85"/>
                </a:solidFill>
                <a:latin typeface="Calibri"/>
              </a:rPr>
              <a:t> rằng quy định áp cho mình có thể khác.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Bốn cơ chế mới</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365" y="1284922"/>
            <a:ext cx="10049408" cy="381000"/>
          </a:xfrm>
          <a:prstGeom prst="rect">
            <a:avLst/>
          </a:prstGeom>
          <a:noFill/>
        </p:spPr>
        <p:txBody>
          <a:bodyPr wrap="square" lIns="0" rIns="0" tIns="0" bIns="0" anchor="t">
            <a:spAutoFit/>
          </a:bodyPr>
          <a:lstStyle/>
          <a:p>
            <a:pPr algn="l">
              <a:lnSpc>
                <a:spcPct val="140000"/>
              </a:lnSpc>
            </a:pPr>
            <a:r>
              <a:rPr sz="1150" b="0">
                <a:solidFill>
                  <a:srgbClr val="5A6B85"/>
                </a:solidFill>
                <a:latin typeface="Calibri"/>
              </a:rPr>
              <a:t>Cả bốn đều nằm ở </a:t>
            </a:r>
            <a:r>
              <a:rPr sz="1150" b="1">
                <a:solidFill>
                  <a:srgbClr val="1E3050"/>
                </a:solidFill>
                <a:latin typeface="Calibri"/>
              </a:rPr>
              <a:t>Giai đoạn 3 — tìm kiếm lai</a:t>
            </a:r>
            <a:r>
              <a:rPr sz="1150" b="0">
                <a:solidFill>
                  <a:srgbClr val="5A6B85"/>
                </a:solidFill>
                <a:latin typeface="Calibri"/>
              </a:rPr>
              <a:t>. Bản thể luận, cách dựng đồ thị và khâu sinh </a:t>
            </a:r>
            <a:r>
              <a:rPr sz="1150" b="1">
                <a:solidFill>
                  <a:srgbClr val="1E3050"/>
                </a:solidFill>
                <a:latin typeface="Calibri"/>
              </a:rPr>
              <a:t>giữ nguyên</a:t>
            </a:r>
            <a:r>
              <a:rPr sz="1150" b="0">
                <a:solidFill>
                  <a:srgbClr val="5A6B85"/>
                </a:solidFill>
                <a:latin typeface="Calibri"/>
              </a:rPr>
              <a:t>; riêng cơ chế thứ nhất bổ sung một loại quan hệ vào đồ thị lúc nạp dữ liệu.</a:t>
            </a:r>
          </a:p>
        </p:txBody>
      </p:sp>
      <p:sp>
        <p:nvSpPr>
          <p:cNvPr id="6" name="Rounded Rectangle 5"/>
          <p:cNvSpPr/>
          <p:nvPr/>
        </p:nvSpPr>
        <p:spPr>
          <a:xfrm>
            <a:off x="634365" y="1780222"/>
            <a:ext cx="5375910" cy="2182177"/>
          </a:xfrm>
          <a:prstGeom prst="roundRect">
            <a:avLst>
              <a:gd name="adj" fmla="val 5674"/>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3915" y="1951672"/>
            <a:ext cx="3947160" cy="234441"/>
          </a:xfrm>
          <a:prstGeom prst="rect">
            <a:avLst/>
          </a:prstGeom>
          <a:noFill/>
        </p:spPr>
        <p:txBody>
          <a:bodyPr wrap="square" lIns="0" rIns="0" tIns="0" bIns="0" anchor="t">
            <a:spAutoFit/>
          </a:bodyPr>
          <a:lstStyle/>
          <a:p>
            <a:pPr algn="l"/>
            <a:r>
              <a:rPr sz="1300" b="1">
                <a:solidFill>
                  <a:srgbClr val="FFFFFF"/>
                </a:solidFill>
                <a:latin typeface="Calibri"/>
              </a:rPr>
              <a:t>Lần theo dẫn chiếu</a:t>
            </a:r>
          </a:p>
        </p:txBody>
      </p:sp>
      <p:sp>
        <p:nvSpPr>
          <p:cNvPr id="8" name="TextBox 7"/>
          <p:cNvSpPr txBox="1"/>
          <p:nvPr/>
        </p:nvSpPr>
        <p:spPr>
          <a:xfrm>
            <a:off x="4371975" y="1951672"/>
            <a:ext cx="1428750" cy="252475"/>
          </a:xfrm>
          <a:prstGeom prst="rect">
            <a:avLst/>
          </a:prstGeom>
          <a:noFill/>
        </p:spPr>
        <p:txBody>
          <a:bodyPr wrap="square" lIns="0" rIns="0" tIns="0" bIns="0" anchor="t">
            <a:spAutoFit/>
          </a:bodyPr>
          <a:lstStyle/>
          <a:p>
            <a:pPr algn="r"/>
            <a:r>
              <a:rPr sz="1400" b="1">
                <a:solidFill>
                  <a:srgbClr val="8FC4F5"/>
                </a:solidFill>
                <a:latin typeface="Calibri"/>
              </a:rPr>
              <a:t>5.366 quan hệ</a:t>
            </a:r>
          </a:p>
        </p:txBody>
      </p:sp>
      <p:sp>
        <p:nvSpPr>
          <p:cNvPr id="9" name="TextBox 8"/>
          <p:cNvSpPr txBox="1"/>
          <p:nvPr/>
        </p:nvSpPr>
        <p:spPr>
          <a:xfrm>
            <a:off x="843915" y="2275522"/>
            <a:ext cx="4956810" cy="180339"/>
          </a:xfrm>
          <a:prstGeom prst="rect">
            <a:avLst/>
          </a:prstGeom>
          <a:noFill/>
        </p:spPr>
        <p:txBody>
          <a:bodyPr wrap="square" lIns="0" rIns="0" tIns="0" bIns="0" anchor="t">
            <a:spAutoFit/>
          </a:bodyPr>
          <a:lstStyle/>
          <a:p>
            <a:pPr algn="ctr"/>
            <a:r>
              <a:rPr sz="1000" b="0">
                <a:solidFill>
                  <a:srgbClr val="C2CEE0"/>
                </a:solidFill>
                <a:latin typeface="Calibri"/>
              </a:rPr>
              <a:t>“…quy định tại khoản 1 và khoản 2 Điều này”</a:t>
            </a:r>
          </a:p>
        </p:txBody>
      </p:sp>
      <p:sp>
        <p:nvSpPr>
          <p:cNvPr id="10" name="Rounded Rectangle 9"/>
          <p:cNvSpPr/>
          <p:nvPr/>
        </p:nvSpPr>
        <p:spPr>
          <a:xfrm>
            <a:off x="958215" y="2599372"/>
            <a:ext cx="1447800" cy="323850"/>
          </a:xfrm>
          <a:prstGeom prst="roundRect">
            <a:avLst>
              <a:gd name="adj" fmla="val 20588"/>
            </a:avLst>
          </a:prstGeom>
          <a:noFill/>
          <a:ln w="12700">
            <a:solidFill>
              <a:srgbClr val="8FC4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8215" y="2675572"/>
            <a:ext cx="1447800" cy="216408"/>
          </a:xfrm>
          <a:prstGeom prst="rect">
            <a:avLst/>
          </a:prstGeom>
          <a:noFill/>
        </p:spPr>
        <p:txBody>
          <a:bodyPr wrap="square" lIns="0" rIns="0" tIns="0" bIns="0" anchor="t">
            <a:spAutoFit/>
          </a:bodyPr>
          <a:lstStyle/>
          <a:p>
            <a:pPr algn="ctr"/>
            <a:r>
              <a:rPr sz="1200" b="1">
                <a:solidFill>
                  <a:srgbClr val="8FC4F5"/>
                </a:solidFill>
                <a:latin typeface="Calibri"/>
              </a:rPr>
              <a:t>Khoản 1</a:t>
            </a:r>
          </a:p>
        </p:txBody>
      </p:sp>
      <p:sp>
        <p:nvSpPr>
          <p:cNvPr id="12" name="Rounded Rectangle 11"/>
          <p:cNvSpPr/>
          <p:nvPr/>
        </p:nvSpPr>
        <p:spPr>
          <a:xfrm>
            <a:off x="2558415" y="2599372"/>
            <a:ext cx="1447800" cy="323850"/>
          </a:xfrm>
          <a:prstGeom prst="roundRect">
            <a:avLst>
              <a:gd name="adj" fmla="val 20588"/>
            </a:avLst>
          </a:prstGeom>
          <a:noFill/>
          <a:ln w="12700">
            <a:solidFill>
              <a:srgbClr val="8FC4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58415" y="2675572"/>
            <a:ext cx="1447800" cy="216408"/>
          </a:xfrm>
          <a:prstGeom prst="rect">
            <a:avLst/>
          </a:prstGeom>
          <a:noFill/>
        </p:spPr>
        <p:txBody>
          <a:bodyPr wrap="square" lIns="0" rIns="0" tIns="0" bIns="0" anchor="t">
            <a:spAutoFit/>
          </a:bodyPr>
          <a:lstStyle/>
          <a:p>
            <a:pPr algn="ctr"/>
            <a:r>
              <a:rPr sz="1200" b="1">
                <a:solidFill>
                  <a:srgbClr val="8FC4F5"/>
                </a:solidFill>
                <a:latin typeface="Calibri"/>
              </a:rPr>
              <a:t>Khoản 2</a:t>
            </a:r>
          </a:p>
        </p:txBody>
      </p:sp>
      <p:sp>
        <p:nvSpPr>
          <p:cNvPr id="14" name="Rounded Rectangle 13"/>
          <p:cNvSpPr/>
          <p:nvPr/>
        </p:nvSpPr>
        <p:spPr>
          <a:xfrm>
            <a:off x="4158615" y="2599372"/>
            <a:ext cx="1447800" cy="323850"/>
          </a:xfrm>
          <a:prstGeom prst="roundRect">
            <a:avLst>
              <a:gd name="adj" fmla="val 20588"/>
            </a:avLst>
          </a:prstGeom>
          <a:solidFill>
            <a:srgbClr val="8FC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58615" y="2675572"/>
            <a:ext cx="1447800" cy="216408"/>
          </a:xfrm>
          <a:prstGeom prst="rect">
            <a:avLst/>
          </a:prstGeom>
          <a:noFill/>
        </p:spPr>
        <p:txBody>
          <a:bodyPr wrap="square" lIns="0" rIns="0" tIns="0" bIns="0" anchor="t">
            <a:spAutoFit/>
          </a:bodyPr>
          <a:lstStyle/>
          <a:p>
            <a:pPr algn="ctr"/>
            <a:r>
              <a:rPr sz="1200" b="1">
                <a:solidFill>
                  <a:srgbClr val="12233D"/>
                </a:solidFill>
                <a:latin typeface="Calibri"/>
              </a:rPr>
              <a:t>Khoản 3</a:t>
            </a:r>
          </a:p>
        </p:txBody>
      </p:sp>
      <p:cxnSp>
        <p:nvCxnSpPr>
          <p:cNvPr id="16" name="Connector 15"/>
          <p:cNvCxnSpPr/>
          <p:nvPr/>
        </p:nvCxnSpPr>
        <p:spPr>
          <a:xfrm flipV="1">
            <a:off x="4158615" y="2504122"/>
            <a:ext cx="0" cy="95250"/>
          </a:xfrm>
          <a:prstGeom prst="bentConnector3">
            <a:avLst/>
          </a:prstGeom>
          <a:ln w="20320">
            <a:solidFill>
              <a:srgbClr val="8FC4F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82115" y="2504122"/>
            <a:ext cx="2476500" cy="0"/>
          </a:xfrm>
          <a:prstGeom prst="bentConnector3">
            <a:avLst/>
          </a:prstGeom>
          <a:ln w="20320">
            <a:solidFill>
              <a:srgbClr val="8FC4F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82115" y="2504122"/>
            <a:ext cx="0" cy="85725"/>
          </a:xfrm>
          <a:prstGeom prst="bentConnector3">
            <a:avLst/>
          </a:prstGeom>
          <a:ln w="20320">
            <a:solidFill>
              <a:srgbClr val="8FC4F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82315" y="2504122"/>
            <a:ext cx="0" cy="85725"/>
          </a:xfrm>
          <a:prstGeom prst="bentConnector3">
            <a:avLst/>
          </a:prstGeom>
          <a:ln w="20320">
            <a:solidFill>
              <a:srgbClr val="8FC4F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0525" y="2408872"/>
            <a:ext cx="1619250" cy="162306"/>
          </a:xfrm>
          <a:prstGeom prst="rect">
            <a:avLst/>
          </a:prstGeom>
          <a:noFill/>
        </p:spPr>
        <p:txBody>
          <a:bodyPr wrap="square" lIns="0" rIns="0" tIns="0" bIns="0" anchor="t">
            <a:spAutoFit/>
          </a:bodyPr>
          <a:lstStyle/>
          <a:p>
            <a:pPr algn="r"/>
            <a:r>
              <a:rPr sz="900" b="0">
                <a:solidFill>
                  <a:srgbClr val="7E93B2"/>
                </a:solidFill>
                <a:latin typeface="Calibri"/>
              </a:rPr>
              <a:t>khớp câu hỏi</a:t>
            </a:r>
          </a:p>
        </p:txBody>
      </p:sp>
      <p:sp>
        <p:nvSpPr>
          <p:cNvPr id="21" name="TextBox 20"/>
          <p:cNvSpPr txBox="1"/>
          <p:nvPr/>
        </p:nvSpPr>
        <p:spPr>
          <a:xfrm>
            <a:off x="843915" y="3524250"/>
            <a:ext cx="4956810" cy="381000"/>
          </a:xfrm>
          <a:prstGeom prst="rect">
            <a:avLst/>
          </a:prstGeom>
          <a:noFill/>
        </p:spPr>
        <p:txBody>
          <a:bodyPr wrap="square" lIns="0" rIns="0" tIns="0" bIns="0" anchor="t">
            <a:spAutoFit/>
          </a:bodyPr>
          <a:lstStyle/>
          <a:p>
            <a:pPr algn="l">
              <a:lnSpc>
                <a:spcPct val="132000"/>
              </a:lnSpc>
            </a:pPr>
            <a:r>
              <a:rPr sz="1000" b="0">
                <a:solidFill>
                  <a:srgbClr val="A9BAD2"/>
                </a:solidFill>
                <a:latin typeface="Calibri"/>
              </a:rPr>
              <a:t>Câu trỏ chỉ chứa địa chỉ, không chứa nội dung — tìm theo độ giống từ ngữ </a:t>
            </a:r>
            <a:r>
              <a:rPr sz="1000" b="1">
                <a:solidFill>
                  <a:srgbClr val="FFFFFF"/>
                </a:solidFill>
                <a:latin typeface="Calibri"/>
              </a:rPr>
              <a:t>không thể lần ra</a:t>
            </a:r>
            <a:r>
              <a:rPr sz="1000" b="0">
                <a:solidFill>
                  <a:srgbClr val="A9BAD2"/>
                </a:solidFill>
                <a:latin typeface="Calibri"/>
              </a:rPr>
              <a:t>.</a:t>
            </a:r>
          </a:p>
        </p:txBody>
      </p:sp>
      <p:sp>
        <p:nvSpPr>
          <p:cNvPr id="22" name="Rounded Rectangle 21"/>
          <p:cNvSpPr/>
          <p:nvPr/>
        </p:nvSpPr>
        <p:spPr>
          <a:xfrm>
            <a:off x="6181725" y="1780222"/>
            <a:ext cx="5375910" cy="2182177"/>
          </a:xfrm>
          <a:prstGeom prst="roundRect">
            <a:avLst>
              <a:gd name="adj" fmla="val 5674"/>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275" y="1951672"/>
            <a:ext cx="3947160" cy="234441"/>
          </a:xfrm>
          <a:prstGeom prst="rect">
            <a:avLst/>
          </a:prstGeom>
          <a:noFill/>
        </p:spPr>
        <p:txBody>
          <a:bodyPr wrap="square" lIns="0" rIns="0" tIns="0" bIns="0" anchor="t">
            <a:spAutoFit/>
          </a:bodyPr>
          <a:lstStyle/>
          <a:p>
            <a:pPr algn="l"/>
            <a:r>
              <a:rPr sz="1300" b="1">
                <a:solidFill>
                  <a:srgbClr val="1E3050"/>
                </a:solidFill>
                <a:latin typeface="Calibri"/>
              </a:rPr>
              <a:t>Cross-encoder xếp lại trong từng văn bản</a:t>
            </a:r>
          </a:p>
        </p:txBody>
      </p:sp>
      <p:sp>
        <p:nvSpPr>
          <p:cNvPr id="24" name="TextBox 23"/>
          <p:cNvSpPr txBox="1"/>
          <p:nvPr/>
        </p:nvSpPr>
        <p:spPr>
          <a:xfrm>
            <a:off x="9919335" y="1951672"/>
            <a:ext cx="1428750" cy="252475"/>
          </a:xfrm>
          <a:prstGeom prst="rect">
            <a:avLst/>
          </a:prstGeom>
          <a:noFill/>
        </p:spPr>
        <p:txBody>
          <a:bodyPr wrap="square" lIns="0" rIns="0" tIns="0" bIns="0" anchor="t">
            <a:spAutoFit/>
          </a:bodyPr>
          <a:lstStyle/>
          <a:p>
            <a:pPr algn="r"/>
            <a:r>
              <a:rPr sz="1400" b="1">
                <a:solidFill>
                  <a:srgbClr val="1554A5"/>
                </a:solidFill>
                <a:latin typeface="Calibri"/>
              </a:rPr>
              <a:t>+0,047</a:t>
            </a:r>
          </a:p>
        </p:txBody>
      </p:sp>
      <p:sp>
        <p:nvSpPr>
          <p:cNvPr id="25" name="TextBox 24"/>
          <p:cNvSpPr txBox="1"/>
          <p:nvPr/>
        </p:nvSpPr>
        <p:spPr>
          <a:xfrm>
            <a:off x="6391275" y="2275522"/>
            <a:ext cx="1143000" cy="153288"/>
          </a:xfrm>
          <a:prstGeom prst="rect">
            <a:avLst/>
          </a:prstGeom>
          <a:noFill/>
        </p:spPr>
        <p:txBody>
          <a:bodyPr wrap="square" lIns="0" rIns="0" tIns="0" bIns="0" anchor="t">
            <a:spAutoFit/>
          </a:bodyPr>
          <a:lstStyle/>
          <a:p>
            <a:pPr algn="l"/>
            <a:r>
              <a:rPr sz="850" b="1" spc="110">
                <a:solidFill>
                  <a:srgbClr val="5A6B85"/>
                </a:solidFill>
                <a:latin typeface="Calibri"/>
              </a:rPr>
              <a:t>TRƯỚC</a:t>
            </a:r>
          </a:p>
        </p:txBody>
      </p:sp>
      <p:sp>
        <p:nvSpPr>
          <p:cNvPr id="26" name="Rounded Rectangle 25"/>
          <p:cNvSpPr/>
          <p:nvPr/>
        </p:nvSpPr>
        <p:spPr>
          <a:xfrm>
            <a:off x="6391275" y="244697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7475" y="247554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12</a:t>
            </a:r>
          </a:p>
        </p:txBody>
      </p:sp>
      <p:sp>
        <p:nvSpPr>
          <p:cNvPr id="28" name="Rounded Rectangle 27"/>
          <p:cNvSpPr/>
          <p:nvPr/>
        </p:nvSpPr>
        <p:spPr>
          <a:xfrm>
            <a:off x="6391275" y="265652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7475" y="268509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7</a:t>
            </a:r>
          </a:p>
        </p:txBody>
      </p:sp>
      <p:sp>
        <p:nvSpPr>
          <p:cNvPr id="30" name="Rounded Rectangle 29"/>
          <p:cNvSpPr/>
          <p:nvPr/>
        </p:nvSpPr>
        <p:spPr>
          <a:xfrm>
            <a:off x="6391275" y="286607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7475" y="289464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15</a:t>
            </a:r>
          </a:p>
        </p:txBody>
      </p:sp>
      <p:sp>
        <p:nvSpPr>
          <p:cNvPr id="32" name="Rounded Rectangle 31"/>
          <p:cNvSpPr/>
          <p:nvPr/>
        </p:nvSpPr>
        <p:spPr>
          <a:xfrm>
            <a:off x="6391275" y="3075622"/>
            <a:ext cx="2306955" cy="180975"/>
          </a:xfrm>
          <a:prstGeom prst="roundRect">
            <a:avLst>
              <a:gd name="adj" fmla="val 2105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7475" y="3104197"/>
            <a:ext cx="2211704" cy="171322"/>
          </a:xfrm>
          <a:prstGeom prst="rect">
            <a:avLst/>
          </a:prstGeom>
          <a:noFill/>
        </p:spPr>
        <p:txBody>
          <a:bodyPr wrap="square" lIns="0" rIns="0" tIns="0" bIns="0" anchor="t">
            <a:spAutoFit/>
          </a:bodyPr>
          <a:lstStyle/>
          <a:p>
            <a:pPr algn="l"/>
            <a:r>
              <a:rPr sz="950" b="1">
                <a:solidFill>
                  <a:srgbClr val="FFFFFF"/>
                </a:solidFill>
                <a:latin typeface="Calibri"/>
              </a:rPr>
              <a:t>Điều 9 · Khoản 3</a:t>
            </a:r>
          </a:p>
        </p:txBody>
      </p:sp>
      <p:sp>
        <p:nvSpPr>
          <p:cNvPr id="34" name="TextBox 33"/>
          <p:cNvSpPr txBox="1"/>
          <p:nvPr/>
        </p:nvSpPr>
        <p:spPr>
          <a:xfrm>
            <a:off x="9136380" y="2275522"/>
            <a:ext cx="1143000" cy="153288"/>
          </a:xfrm>
          <a:prstGeom prst="rect">
            <a:avLst/>
          </a:prstGeom>
          <a:noFill/>
        </p:spPr>
        <p:txBody>
          <a:bodyPr wrap="square" lIns="0" rIns="0" tIns="0" bIns="0" anchor="t">
            <a:spAutoFit/>
          </a:bodyPr>
          <a:lstStyle/>
          <a:p>
            <a:pPr algn="l"/>
            <a:r>
              <a:rPr sz="850" b="1" spc="110">
                <a:solidFill>
                  <a:srgbClr val="5A6B85"/>
                </a:solidFill>
                <a:latin typeface="Calibri"/>
              </a:rPr>
              <a:t>SAU</a:t>
            </a:r>
          </a:p>
        </p:txBody>
      </p:sp>
      <p:sp>
        <p:nvSpPr>
          <p:cNvPr id="35" name="Rounded Rectangle 34"/>
          <p:cNvSpPr/>
          <p:nvPr/>
        </p:nvSpPr>
        <p:spPr>
          <a:xfrm>
            <a:off x="9136380" y="2446972"/>
            <a:ext cx="2306955" cy="180975"/>
          </a:xfrm>
          <a:prstGeom prst="roundRect">
            <a:avLst>
              <a:gd name="adj" fmla="val 2105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12580" y="2475547"/>
            <a:ext cx="2211704" cy="171322"/>
          </a:xfrm>
          <a:prstGeom prst="rect">
            <a:avLst/>
          </a:prstGeom>
          <a:noFill/>
        </p:spPr>
        <p:txBody>
          <a:bodyPr wrap="square" lIns="0" rIns="0" tIns="0" bIns="0" anchor="t">
            <a:spAutoFit/>
          </a:bodyPr>
          <a:lstStyle/>
          <a:p>
            <a:pPr algn="l"/>
            <a:r>
              <a:rPr sz="950" b="1">
                <a:solidFill>
                  <a:srgbClr val="FFFFFF"/>
                </a:solidFill>
                <a:latin typeface="Calibri"/>
              </a:rPr>
              <a:t>Điều 9 · Khoản 3</a:t>
            </a:r>
          </a:p>
        </p:txBody>
      </p:sp>
      <p:sp>
        <p:nvSpPr>
          <p:cNvPr id="37" name="Rounded Rectangle 36"/>
          <p:cNvSpPr/>
          <p:nvPr/>
        </p:nvSpPr>
        <p:spPr>
          <a:xfrm>
            <a:off x="9136380" y="265652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12580" y="268509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12</a:t>
            </a:r>
          </a:p>
        </p:txBody>
      </p:sp>
      <p:sp>
        <p:nvSpPr>
          <p:cNvPr id="39" name="Rounded Rectangle 38"/>
          <p:cNvSpPr/>
          <p:nvPr/>
        </p:nvSpPr>
        <p:spPr>
          <a:xfrm>
            <a:off x="9136380" y="286607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12580" y="289464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7</a:t>
            </a:r>
          </a:p>
        </p:txBody>
      </p:sp>
      <p:sp>
        <p:nvSpPr>
          <p:cNvPr id="41" name="Rounded Rectangle 40"/>
          <p:cNvSpPr/>
          <p:nvPr/>
        </p:nvSpPr>
        <p:spPr>
          <a:xfrm>
            <a:off x="9136380" y="3075622"/>
            <a:ext cx="2306955" cy="180975"/>
          </a:xfrm>
          <a:prstGeom prst="roundRect">
            <a:avLst>
              <a:gd name="adj" fmla="val 21052"/>
            </a:avLst>
          </a:prstGeom>
          <a:solidFill>
            <a:srgbClr val="D7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12580" y="3104197"/>
            <a:ext cx="2211704" cy="171322"/>
          </a:xfrm>
          <a:prstGeom prst="rect">
            <a:avLst/>
          </a:prstGeom>
          <a:noFill/>
        </p:spPr>
        <p:txBody>
          <a:bodyPr wrap="square" lIns="0" rIns="0" tIns="0" bIns="0" anchor="t">
            <a:spAutoFit/>
          </a:bodyPr>
          <a:lstStyle/>
          <a:p>
            <a:pPr algn="l"/>
            <a:r>
              <a:rPr sz="950" b="0">
                <a:solidFill>
                  <a:srgbClr val="5A6B85"/>
                </a:solidFill>
                <a:latin typeface="Calibri"/>
              </a:rPr>
              <a:t>Điều 15</a:t>
            </a:r>
          </a:p>
        </p:txBody>
      </p:sp>
      <p:sp>
        <p:nvSpPr>
          <p:cNvPr id="43" name="TextBox 42"/>
          <p:cNvSpPr txBox="1"/>
          <p:nvPr/>
        </p:nvSpPr>
        <p:spPr>
          <a:xfrm>
            <a:off x="8374380" y="2942272"/>
            <a:ext cx="1047749" cy="162306"/>
          </a:xfrm>
          <a:prstGeom prst="rect">
            <a:avLst/>
          </a:prstGeom>
          <a:noFill/>
        </p:spPr>
        <p:txBody>
          <a:bodyPr wrap="square" lIns="0" rIns="0" tIns="0" bIns="0" anchor="t">
            <a:spAutoFit/>
          </a:bodyPr>
          <a:lstStyle/>
          <a:p>
            <a:pPr algn="ctr"/>
            <a:r>
              <a:rPr sz="900" b="0">
                <a:solidFill>
                  <a:srgbClr val="5A6B85"/>
                </a:solidFill>
                <a:latin typeface="Calibri"/>
              </a:rPr>
              <a:t>đáp án lên đầu</a:t>
            </a:r>
          </a:p>
        </p:txBody>
      </p:sp>
      <p:sp>
        <p:nvSpPr>
          <p:cNvPr id="44" name="TextBox 43"/>
          <p:cNvSpPr txBox="1"/>
          <p:nvPr/>
        </p:nvSpPr>
        <p:spPr>
          <a:xfrm>
            <a:off x="6391275" y="3524250"/>
            <a:ext cx="4956810" cy="381000"/>
          </a:xfrm>
          <a:prstGeom prst="rect">
            <a:avLst/>
          </a:prstGeom>
          <a:noFill/>
        </p:spPr>
        <p:txBody>
          <a:bodyPr wrap="square" lIns="0" rIns="0" tIns="0" bIns="0" anchor="t">
            <a:spAutoFit/>
          </a:bodyPr>
          <a:lstStyle/>
          <a:p>
            <a:pPr algn="l">
              <a:lnSpc>
                <a:spcPct val="132000"/>
              </a:lnSpc>
            </a:pPr>
            <a:r>
              <a:rPr sz="1000" b="0">
                <a:solidFill>
                  <a:srgbClr val="2C4A72"/>
                </a:solidFill>
                <a:latin typeface="Calibri"/>
              </a:rPr>
              <a:t>Chỉ đổi thứ tự </a:t>
            </a:r>
            <a:r>
              <a:rPr sz="1000" b="1">
                <a:solidFill>
                  <a:srgbClr val="1E3050"/>
                </a:solidFill>
                <a:latin typeface="Calibri"/>
              </a:rPr>
              <a:t>bên trong văn bản đã chọn</a:t>
            </a:r>
            <a:r>
              <a:rPr sz="1000" b="0">
                <a:solidFill>
                  <a:srgbClr val="2C4A72"/>
                </a:solidFill>
                <a:latin typeface="Calibri"/>
              </a:rPr>
              <a:t> — thứ tự giữa các văn bản giữ nguyên.</a:t>
            </a:r>
          </a:p>
        </p:txBody>
      </p:sp>
      <p:sp>
        <p:nvSpPr>
          <p:cNvPr id="45" name="Rounded Rectangle 44"/>
          <p:cNvSpPr/>
          <p:nvPr/>
        </p:nvSpPr>
        <p:spPr>
          <a:xfrm>
            <a:off x="634365" y="4114800"/>
            <a:ext cx="5375910" cy="2182177"/>
          </a:xfrm>
          <a:prstGeom prst="roundRect">
            <a:avLst>
              <a:gd name="adj" fmla="val 5674"/>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3915" y="4286250"/>
            <a:ext cx="3947160" cy="234441"/>
          </a:xfrm>
          <a:prstGeom prst="rect">
            <a:avLst/>
          </a:prstGeom>
          <a:noFill/>
        </p:spPr>
        <p:txBody>
          <a:bodyPr wrap="square" lIns="0" rIns="0" tIns="0" bIns="0" anchor="t">
            <a:spAutoFit/>
          </a:bodyPr>
          <a:lstStyle/>
          <a:p>
            <a:pPr algn="l"/>
            <a:r>
              <a:rPr sz="1300" b="1">
                <a:solidFill>
                  <a:srgbClr val="1E3050"/>
                </a:solidFill>
                <a:latin typeface="Calibri"/>
              </a:rPr>
              <a:t>Mở rộng vùng tìm kiếm</a:t>
            </a:r>
          </a:p>
        </p:txBody>
      </p:sp>
      <p:sp>
        <p:nvSpPr>
          <p:cNvPr id="47" name="TextBox 46"/>
          <p:cNvSpPr txBox="1"/>
          <p:nvPr/>
        </p:nvSpPr>
        <p:spPr>
          <a:xfrm>
            <a:off x="4371975" y="4286250"/>
            <a:ext cx="1428750" cy="252475"/>
          </a:xfrm>
          <a:prstGeom prst="rect">
            <a:avLst/>
          </a:prstGeom>
          <a:noFill/>
        </p:spPr>
        <p:txBody>
          <a:bodyPr wrap="square" lIns="0" rIns="0" tIns="0" bIns="0" anchor="t">
            <a:spAutoFit/>
          </a:bodyPr>
          <a:lstStyle/>
          <a:p>
            <a:pPr algn="r"/>
            <a:r>
              <a:rPr sz="1400" b="1">
                <a:solidFill>
                  <a:srgbClr val="1554A5"/>
                </a:solidFill>
                <a:latin typeface="Calibri"/>
              </a:rPr>
              <a:t>+0,053</a:t>
            </a:r>
          </a:p>
        </p:txBody>
      </p:sp>
      <p:sp>
        <p:nvSpPr>
          <p:cNvPr id="48" name="TextBox 47"/>
          <p:cNvSpPr txBox="1"/>
          <p:nvPr/>
        </p:nvSpPr>
        <p:spPr>
          <a:xfrm>
            <a:off x="843915" y="4638675"/>
            <a:ext cx="571500" cy="180339"/>
          </a:xfrm>
          <a:prstGeom prst="rect">
            <a:avLst/>
          </a:prstGeom>
          <a:noFill/>
        </p:spPr>
        <p:txBody>
          <a:bodyPr wrap="square" lIns="0" rIns="0" tIns="0" bIns="0" anchor="t">
            <a:spAutoFit/>
          </a:bodyPr>
          <a:lstStyle/>
          <a:p>
            <a:pPr algn="l"/>
            <a:r>
              <a:rPr sz="1000" b="0">
                <a:solidFill>
                  <a:srgbClr val="5A6B85"/>
                </a:solidFill>
                <a:latin typeface="Calibri"/>
              </a:rPr>
              <a:t>Trước</a:t>
            </a:r>
          </a:p>
        </p:txBody>
      </p:sp>
      <p:sp>
        <p:nvSpPr>
          <p:cNvPr id="49" name="Rounded Rectangle 48"/>
          <p:cNvSpPr/>
          <p:nvPr/>
        </p:nvSpPr>
        <p:spPr>
          <a:xfrm>
            <a:off x="145351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53257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61163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69068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76974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84880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92786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200691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08597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216503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224409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232314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240220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248126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56032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63937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271843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279749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287655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95560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03466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311372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319278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327183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35089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42995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350901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358806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366712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374618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382524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390429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398335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406241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414147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422052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429958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437864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45770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53675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461581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469487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477393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485298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493204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501110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5090160"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5169217"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5248275"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5327332" y="466725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343525" y="4629150"/>
            <a:ext cx="476250" cy="216408"/>
          </a:xfrm>
          <a:prstGeom prst="rect">
            <a:avLst/>
          </a:prstGeom>
          <a:noFill/>
        </p:spPr>
        <p:txBody>
          <a:bodyPr wrap="square" lIns="0" rIns="0" tIns="0" bIns="0" anchor="t">
            <a:spAutoFit/>
          </a:bodyPr>
          <a:lstStyle/>
          <a:p>
            <a:pPr algn="r"/>
            <a:r>
              <a:rPr sz="1200" b="0">
                <a:solidFill>
                  <a:srgbClr val="5A6B85"/>
                </a:solidFill>
                <a:latin typeface="Calibri"/>
              </a:rPr>
              <a:t>50</a:t>
            </a:r>
          </a:p>
        </p:txBody>
      </p:sp>
      <p:sp>
        <p:nvSpPr>
          <p:cNvPr id="100" name="TextBox 99"/>
          <p:cNvSpPr txBox="1"/>
          <p:nvPr/>
        </p:nvSpPr>
        <p:spPr>
          <a:xfrm>
            <a:off x="843915" y="4962525"/>
            <a:ext cx="571500" cy="180339"/>
          </a:xfrm>
          <a:prstGeom prst="rect">
            <a:avLst/>
          </a:prstGeom>
          <a:noFill/>
        </p:spPr>
        <p:txBody>
          <a:bodyPr wrap="square" lIns="0" rIns="0" tIns="0" bIns="0" anchor="t">
            <a:spAutoFit/>
          </a:bodyPr>
          <a:lstStyle/>
          <a:p>
            <a:pPr algn="l"/>
            <a:r>
              <a:rPr sz="1000" b="1">
                <a:solidFill>
                  <a:srgbClr val="1E3050"/>
                </a:solidFill>
                <a:latin typeface="Calibri"/>
              </a:rPr>
              <a:t>Sau</a:t>
            </a:r>
          </a:p>
        </p:txBody>
      </p:sp>
      <p:sp>
        <p:nvSpPr>
          <p:cNvPr id="101" name="Rounded Rectangle 100"/>
          <p:cNvSpPr/>
          <p:nvPr/>
        </p:nvSpPr>
        <p:spPr>
          <a:xfrm>
            <a:off x="145351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153257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161163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169068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176974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184880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192786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200691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208597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216503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224409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232314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240220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248126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256032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263937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271843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279749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287655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295560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303466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311372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319278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327183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335089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342995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350901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358806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366712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374618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382524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390429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398335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406241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414147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422052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429958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ounded Rectangle 137"/>
          <p:cNvSpPr/>
          <p:nvPr/>
        </p:nvSpPr>
        <p:spPr>
          <a:xfrm>
            <a:off x="437864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445770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453675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ounded Rectangle 140"/>
          <p:cNvSpPr/>
          <p:nvPr/>
        </p:nvSpPr>
        <p:spPr>
          <a:xfrm>
            <a:off x="461581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ounded Rectangle 141"/>
          <p:cNvSpPr/>
          <p:nvPr/>
        </p:nvSpPr>
        <p:spPr>
          <a:xfrm>
            <a:off x="469487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477393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485298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ounded Rectangle 144"/>
          <p:cNvSpPr/>
          <p:nvPr/>
        </p:nvSpPr>
        <p:spPr>
          <a:xfrm>
            <a:off x="493204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ounded Rectangle 145"/>
          <p:cNvSpPr/>
          <p:nvPr/>
        </p:nvSpPr>
        <p:spPr>
          <a:xfrm>
            <a:off x="501110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ounded Rectangle 146"/>
          <p:cNvSpPr/>
          <p:nvPr/>
        </p:nvSpPr>
        <p:spPr>
          <a:xfrm>
            <a:off x="5090160"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5169217"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ounded Rectangle 148"/>
          <p:cNvSpPr/>
          <p:nvPr/>
        </p:nvSpPr>
        <p:spPr>
          <a:xfrm>
            <a:off x="5248275"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ed Rectangle 149"/>
          <p:cNvSpPr/>
          <p:nvPr/>
        </p:nvSpPr>
        <p:spPr>
          <a:xfrm>
            <a:off x="5327332" y="4991100"/>
            <a:ext cx="47625" cy="4762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ounded Rectangle 150"/>
          <p:cNvSpPr/>
          <p:nvPr/>
        </p:nvSpPr>
        <p:spPr>
          <a:xfrm>
            <a:off x="145351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153257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161163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ed Rectangle 153"/>
          <p:cNvSpPr/>
          <p:nvPr/>
        </p:nvSpPr>
        <p:spPr>
          <a:xfrm>
            <a:off x="169068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ed Rectangle 154"/>
          <p:cNvSpPr/>
          <p:nvPr/>
        </p:nvSpPr>
        <p:spPr>
          <a:xfrm>
            <a:off x="176974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ounded Rectangle 155"/>
          <p:cNvSpPr/>
          <p:nvPr/>
        </p:nvSpPr>
        <p:spPr>
          <a:xfrm>
            <a:off x="184880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ounded Rectangle 156"/>
          <p:cNvSpPr/>
          <p:nvPr/>
        </p:nvSpPr>
        <p:spPr>
          <a:xfrm>
            <a:off x="192786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200691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ounded Rectangle 158"/>
          <p:cNvSpPr/>
          <p:nvPr/>
        </p:nvSpPr>
        <p:spPr>
          <a:xfrm>
            <a:off x="208597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ounded Rectangle 159"/>
          <p:cNvSpPr/>
          <p:nvPr/>
        </p:nvSpPr>
        <p:spPr>
          <a:xfrm>
            <a:off x="216503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ounded Rectangle 160"/>
          <p:cNvSpPr/>
          <p:nvPr/>
        </p:nvSpPr>
        <p:spPr>
          <a:xfrm>
            <a:off x="224409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232314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240220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248126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256032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ounded Rectangle 165"/>
          <p:cNvSpPr/>
          <p:nvPr/>
        </p:nvSpPr>
        <p:spPr>
          <a:xfrm>
            <a:off x="263937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ounded Rectangle 166"/>
          <p:cNvSpPr/>
          <p:nvPr/>
        </p:nvSpPr>
        <p:spPr>
          <a:xfrm>
            <a:off x="271843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279749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ounded Rectangle 168"/>
          <p:cNvSpPr/>
          <p:nvPr/>
        </p:nvSpPr>
        <p:spPr>
          <a:xfrm>
            <a:off x="287655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ounded Rectangle 169"/>
          <p:cNvSpPr/>
          <p:nvPr/>
        </p:nvSpPr>
        <p:spPr>
          <a:xfrm>
            <a:off x="295560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303466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ounded Rectangle 171"/>
          <p:cNvSpPr/>
          <p:nvPr/>
        </p:nvSpPr>
        <p:spPr>
          <a:xfrm>
            <a:off x="311372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ounded Rectangle 172"/>
          <p:cNvSpPr/>
          <p:nvPr/>
        </p:nvSpPr>
        <p:spPr>
          <a:xfrm>
            <a:off x="319278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ounded Rectangle 173"/>
          <p:cNvSpPr/>
          <p:nvPr/>
        </p:nvSpPr>
        <p:spPr>
          <a:xfrm>
            <a:off x="327183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ounded Rectangle 174"/>
          <p:cNvSpPr/>
          <p:nvPr/>
        </p:nvSpPr>
        <p:spPr>
          <a:xfrm>
            <a:off x="335089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ounded Rectangle 175"/>
          <p:cNvSpPr/>
          <p:nvPr/>
        </p:nvSpPr>
        <p:spPr>
          <a:xfrm>
            <a:off x="342995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ounded Rectangle 176"/>
          <p:cNvSpPr/>
          <p:nvPr/>
        </p:nvSpPr>
        <p:spPr>
          <a:xfrm>
            <a:off x="350901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ounded Rectangle 177"/>
          <p:cNvSpPr/>
          <p:nvPr/>
        </p:nvSpPr>
        <p:spPr>
          <a:xfrm>
            <a:off x="358806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ounded Rectangle 178"/>
          <p:cNvSpPr/>
          <p:nvPr/>
        </p:nvSpPr>
        <p:spPr>
          <a:xfrm>
            <a:off x="366712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ounded Rectangle 179"/>
          <p:cNvSpPr/>
          <p:nvPr/>
        </p:nvSpPr>
        <p:spPr>
          <a:xfrm>
            <a:off x="374618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ounded Rectangle 180"/>
          <p:cNvSpPr/>
          <p:nvPr/>
        </p:nvSpPr>
        <p:spPr>
          <a:xfrm>
            <a:off x="382524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ounded Rectangle 181"/>
          <p:cNvSpPr/>
          <p:nvPr/>
        </p:nvSpPr>
        <p:spPr>
          <a:xfrm>
            <a:off x="390429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ounded Rectangle 182"/>
          <p:cNvSpPr/>
          <p:nvPr/>
        </p:nvSpPr>
        <p:spPr>
          <a:xfrm>
            <a:off x="398335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ounded Rectangle 183"/>
          <p:cNvSpPr/>
          <p:nvPr/>
        </p:nvSpPr>
        <p:spPr>
          <a:xfrm>
            <a:off x="406241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ounded Rectangle 184"/>
          <p:cNvSpPr/>
          <p:nvPr/>
        </p:nvSpPr>
        <p:spPr>
          <a:xfrm>
            <a:off x="414147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ounded Rectangle 185"/>
          <p:cNvSpPr/>
          <p:nvPr/>
        </p:nvSpPr>
        <p:spPr>
          <a:xfrm>
            <a:off x="422052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ounded Rectangle 186"/>
          <p:cNvSpPr/>
          <p:nvPr/>
        </p:nvSpPr>
        <p:spPr>
          <a:xfrm>
            <a:off x="429958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ounded Rectangle 187"/>
          <p:cNvSpPr/>
          <p:nvPr/>
        </p:nvSpPr>
        <p:spPr>
          <a:xfrm>
            <a:off x="437864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ounded Rectangle 188"/>
          <p:cNvSpPr/>
          <p:nvPr/>
        </p:nvSpPr>
        <p:spPr>
          <a:xfrm>
            <a:off x="445770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ounded Rectangle 189"/>
          <p:cNvSpPr/>
          <p:nvPr/>
        </p:nvSpPr>
        <p:spPr>
          <a:xfrm>
            <a:off x="453675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ounded Rectangle 190"/>
          <p:cNvSpPr/>
          <p:nvPr/>
        </p:nvSpPr>
        <p:spPr>
          <a:xfrm>
            <a:off x="461581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ounded Rectangle 191"/>
          <p:cNvSpPr/>
          <p:nvPr/>
        </p:nvSpPr>
        <p:spPr>
          <a:xfrm>
            <a:off x="469487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ounded Rectangle 192"/>
          <p:cNvSpPr/>
          <p:nvPr/>
        </p:nvSpPr>
        <p:spPr>
          <a:xfrm>
            <a:off x="477393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ounded Rectangle 193"/>
          <p:cNvSpPr/>
          <p:nvPr/>
        </p:nvSpPr>
        <p:spPr>
          <a:xfrm>
            <a:off x="485298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ounded Rectangle 194"/>
          <p:cNvSpPr/>
          <p:nvPr/>
        </p:nvSpPr>
        <p:spPr>
          <a:xfrm>
            <a:off x="493204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ounded Rectangle 195"/>
          <p:cNvSpPr/>
          <p:nvPr/>
        </p:nvSpPr>
        <p:spPr>
          <a:xfrm>
            <a:off x="501110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ounded Rectangle 196"/>
          <p:cNvSpPr/>
          <p:nvPr/>
        </p:nvSpPr>
        <p:spPr>
          <a:xfrm>
            <a:off x="5090160"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ounded Rectangle 197"/>
          <p:cNvSpPr/>
          <p:nvPr/>
        </p:nvSpPr>
        <p:spPr>
          <a:xfrm>
            <a:off x="5169217"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ounded Rectangle 198"/>
          <p:cNvSpPr/>
          <p:nvPr/>
        </p:nvSpPr>
        <p:spPr>
          <a:xfrm>
            <a:off x="5248275"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ounded Rectangle 199"/>
          <p:cNvSpPr/>
          <p:nvPr/>
        </p:nvSpPr>
        <p:spPr>
          <a:xfrm>
            <a:off x="5327332" y="5086350"/>
            <a:ext cx="47625" cy="476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343525" y="4953000"/>
            <a:ext cx="476250" cy="216408"/>
          </a:xfrm>
          <a:prstGeom prst="rect">
            <a:avLst/>
          </a:prstGeom>
          <a:noFill/>
        </p:spPr>
        <p:txBody>
          <a:bodyPr wrap="square" lIns="0" rIns="0" tIns="0" bIns="0" anchor="t">
            <a:spAutoFit/>
          </a:bodyPr>
          <a:lstStyle/>
          <a:p>
            <a:pPr algn="r"/>
            <a:r>
              <a:rPr sz="1200" b="1">
                <a:solidFill>
                  <a:srgbClr val="1554A5"/>
                </a:solidFill>
                <a:latin typeface="Calibri"/>
              </a:rPr>
              <a:t>100</a:t>
            </a:r>
          </a:p>
        </p:txBody>
      </p:sp>
      <p:sp>
        <p:nvSpPr>
          <p:cNvPr id="202" name="TextBox 201"/>
          <p:cNvSpPr txBox="1"/>
          <p:nvPr/>
        </p:nvSpPr>
        <p:spPr>
          <a:xfrm>
            <a:off x="843915" y="5858827"/>
            <a:ext cx="4956810" cy="381000"/>
          </a:xfrm>
          <a:prstGeom prst="rect">
            <a:avLst/>
          </a:prstGeom>
          <a:noFill/>
        </p:spPr>
        <p:txBody>
          <a:bodyPr wrap="square" lIns="0" rIns="0" tIns="0" bIns="0" anchor="t">
            <a:spAutoFit/>
          </a:bodyPr>
          <a:lstStyle/>
          <a:p>
            <a:pPr algn="l">
              <a:lnSpc>
                <a:spcPct val="132000"/>
              </a:lnSpc>
            </a:pPr>
            <a:r>
              <a:rPr sz="1000" b="0">
                <a:solidFill>
                  <a:srgbClr val="5A6B85"/>
                </a:solidFill>
                <a:latin typeface="Calibri"/>
              </a:rPr>
              <a:t>Gấp đôi số ứng viên lấy ra ở bước tìm ngữ nghĩa, và </a:t>
            </a:r>
            <a:r>
              <a:rPr sz="1000" b="1">
                <a:solidFill>
                  <a:srgbClr val="1E3050"/>
                </a:solidFill>
                <a:latin typeface="Calibri"/>
              </a:rPr>
              <a:t>bỏ hệ số chấm theo độ hiếm khái niệm</a:t>
            </a:r>
            <a:r>
              <a:rPr sz="1000" b="0">
                <a:solidFill>
                  <a:srgbClr val="5A6B85"/>
                </a:solidFill>
                <a:latin typeface="Calibri"/>
              </a:rPr>
              <a:t>.</a:t>
            </a:r>
          </a:p>
        </p:txBody>
      </p:sp>
      <p:sp>
        <p:nvSpPr>
          <p:cNvPr id="203" name="Rounded Rectangle 202"/>
          <p:cNvSpPr/>
          <p:nvPr/>
        </p:nvSpPr>
        <p:spPr>
          <a:xfrm>
            <a:off x="6181725" y="4114800"/>
            <a:ext cx="5375910" cy="2182177"/>
          </a:xfrm>
          <a:prstGeom prst="roundRect">
            <a:avLst>
              <a:gd name="adj" fmla="val 5674"/>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391275" y="4286250"/>
            <a:ext cx="3947160" cy="234441"/>
          </a:xfrm>
          <a:prstGeom prst="rect">
            <a:avLst/>
          </a:prstGeom>
          <a:noFill/>
        </p:spPr>
        <p:txBody>
          <a:bodyPr wrap="square" lIns="0" rIns="0" tIns="0" bIns="0" anchor="t">
            <a:spAutoFit/>
          </a:bodyPr>
          <a:lstStyle/>
          <a:p>
            <a:pPr algn="l"/>
            <a:r>
              <a:rPr sz="1300" b="1">
                <a:solidFill>
                  <a:srgbClr val="1E3050"/>
                </a:solidFill>
                <a:latin typeface="Calibri"/>
              </a:rPr>
              <a:t>Phát hiện quy định đã thay đổi</a:t>
            </a:r>
          </a:p>
        </p:txBody>
      </p:sp>
      <p:sp>
        <p:nvSpPr>
          <p:cNvPr id="205" name="TextBox 204"/>
          <p:cNvSpPr txBox="1"/>
          <p:nvPr/>
        </p:nvSpPr>
        <p:spPr>
          <a:xfrm>
            <a:off x="9919335" y="4286250"/>
            <a:ext cx="1428750" cy="252475"/>
          </a:xfrm>
          <a:prstGeom prst="rect">
            <a:avLst/>
          </a:prstGeom>
          <a:noFill/>
        </p:spPr>
        <p:txBody>
          <a:bodyPr wrap="square" lIns="0" rIns="0" tIns="0" bIns="0" anchor="t">
            <a:spAutoFit/>
          </a:bodyPr>
          <a:lstStyle/>
          <a:p>
            <a:pPr algn="r"/>
            <a:r>
              <a:rPr sz="1400" b="1">
                <a:solidFill>
                  <a:srgbClr val="B45309"/>
                </a:solidFill>
                <a:latin typeface="Calibri"/>
              </a:rPr>
              <a:t>tất định</a:t>
            </a:r>
          </a:p>
        </p:txBody>
      </p:sp>
      <p:sp>
        <p:nvSpPr>
          <p:cNvPr id="206" name="Rounded Rectangle 205"/>
          <p:cNvSpPr/>
          <p:nvPr/>
        </p:nvSpPr>
        <p:spPr>
          <a:xfrm>
            <a:off x="6391275" y="4610100"/>
            <a:ext cx="4956810" cy="266700"/>
          </a:xfrm>
          <a:prstGeom prst="roundRect">
            <a:avLst>
              <a:gd name="adj" fmla="val 25000"/>
            </a:avLst>
          </a:prstGeom>
          <a:solidFill>
            <a:srgbClr val="FDF2E3"/>
          </a:solidFill>
          <a:ln w="12700">
            <a:solidFill>
              <a:srgbClr val="E8C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ounded Rectangle 206"/>
          <p:cNvSpPr/>
          <p:nvPr/>
        </p:nvSpPr>
        <p:spPr>
          <a:xfrm>
            <a:off x="6524625" y="4676775"/>
            <a:ext cx="133350" cy="13335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524625" y="4686300"/>
            <a:ext cx="133350" cy="144272"/>
          </a:xfrm>
          <a:prstGeom prst="rect">
            <a:avLst/>
          </a:prstGeom>
          <a:noFill/>
        </p:spPr>
        <p:txBody>
          <a:bodyPr wrap="square" lIns="0" rIns="0" tIns="0" bIns="0" anchor="t">
            <a:spAutoFit/>
          </a:bodyPr>
          <a:lstStyle/>
          <a:p>
            <a:pPr algn="ctr"/>
            <a:r>
              <a:rPr sz="800" b="1">
                <a:solidFill>
                  <a:srgbClr val="FFFFFF"/>
                </a:solidFill>
                <a:latin typeface="Calibri"/>
              </a:rPr>
              <a:t>!</a:t>
            </a:r>
          </a:p>
        </p:txBody>
      </p:sp>
      <p:sp>
        <p:nvSpPr>
          <p:cNvPr id="209" name="TextBox 208"/>
          <p:cNvSpPr txBox="1"/>
          <p:nvPr/>
        </p:nvSpPr>
        <p:spPr>
          <a:xfrm>
            <a:off x="6734175" y="4686300"/>
            <a:ext cx="4423409" cy="180339"/>
          </a:xfrm>
          <a:prstGeom prst="rect">
            <a:avLst/>
          </a:prstGeom>
          <a:noFill/>
        </p:spPr>
        <p:txBody>
          <a:bodyPr wrap="square" lIns="0" rIns="0" tIns="0" bIns="0" anchor="t">
            <a:spAutoFit/>
          </a:bodyPr>
          <a:lstStyle/>
          <a:p>
            <a:pPr algn="l"/>
            <a:r>
              <a:rPr sz="1000" b="1">
                <a:solidFill>
                  <a:srgbClr val="8A4708"/>
                </a:solidFill>
                <a:latin typeface="Calibri"/>
              </a:rPr>
              <a:t>Quy định về nội dung này đã thay đổi</a:t>
            </a:r>
          </a:p>
        </p:txBody>
      </p:sp>
      <p:sp>
        <p:nvSpPr>
          <p:cNvPr id="210" name="TextBox 209"/>
          <p:cNvSpPr txBox="1"/>
          <p:nvPr/>
        </p:nvSpPr>
        <p:spPr>
          <a:xfrm>
            <a:off x="6391275" y="5010150"/>
            <a:ext cx="857250" cy="171322"/>
          </a:xfrm>
          <a:prstGeom prst="rect">
            <a:avLst/>
          </a:prstGeom>
          <a:noFill/>
        </p:spPr>
        <p:txBody>
          <a:bodyPr wrap="square" lIns="0" rIns="0" tIns="0" bIns="0" anchor="t">
            <a:spAutoFit/>
          </a:bodyPr>
          <a:lstStyle/>
          <a:p>
            <a:pPr algn="l"/>
            <a:r>
              <a:rPr sz="950" b="0">
                <a:solidFill>
                  <a:srgbClr val="5A6B85"/>
                </a:solidFill>
                <a:latin typeface="Calibri"/>
              </a:rPr>
              <a:t>QĐ 18/2016</a:t>
            </a:r>
          </a:p>
        </p:txBody>
      </p:sp>
      <p:sp>
        <p:nvSpPr>
          <p:cNvPr id="211" name="Rounded Rectangle 210"/>
          <p:cNvSpPr/>
          <p:nvPr/>
        </p:nvSpPr>
        <p:spPr>
          <a:xfrm>
            <a:off x="7286625" y="5019675"/>
            <a:ext cx="2002993" cy="114300"/>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391275" y="5295900"/>
            <a:ext cx="857250" cy="171322"/>
          </a:xfrm>
          <a:prstGeom prst="rect">
            <a:avLst/>
          </a:prstGeom>
          <a:noFill/>
        </p:spPr>
        <p:txBody>
          <a:bodyPr wrap="square" lIns="0" rIns="0" tIns="0" bIns="0" anchor="t">
            <a:spAutoFit/>
          </a:bodyPr>
          <a:lstStyle/>
          <a:p>
            <a:pPr algn="l"/>
            <a:r>
              <a:rPr sz="950" b="1">
                <a:solidFill>
                  <a:srgbClr val="1E3050"/>
                </a:solidFill>
                <a:latin typeface="Calibri"/>
              </a:rPr>
              <a:t>QĐ 69/2024</a:t>
            </a:r>
          </a:p>
        </p:txBody>
      </p:sp>
      <p:sp>
        <p:nvSpPr>
          <p:cNvPr id="213" name="Rounded Rectangle 212"/>
          <p:cNvSpPr/>
          <p:nvPr/>
        </p:nvSpPr>
        <p:spPr>
          <a:xfrm>
            <a:off x="9289618" y="5305425"/>
            <a:ext cx="1694840" cy="114300"/>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4" name="Connector 213"/>
          <p:cNvCxnSpPr/>
          <p:nvPr/>
        </p:nvCxnSpPr>
        <p:spPr>
          <a:xfrm>
            <a:off x="9289618" y="4933950"/>
            <a:ext cx="0" cy="571500"/>
          </a:xfrm>
          <a:prstGeom prst="bentConnector3">
            <a:avLst/>
          </a:prstGeom>
          <a:ln w="17780">
            <a:solidFill>
              <a:srgbClr val="B45309"/>
            </a:solidFill>
            <a:prstDash val="dash"/>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8718118" y="5524500"/>
            <a:ext cx="1143000" cy="162306"/>
          </a:xfrm>
          <a:prstGeom prst="rect">
            <a:avLst/>
          </a:prstGeom>
          <a:noFill/>
        </p:spPr>
        <p:txBody>
          <a:bodyPr wrap="square" lIns="0" rIns="0" tIns="0" bIns="0" anchor="t">
            <a:spAutoFit/>
          </a:bodyPr>
          <a:lstStyle/>
          <a:p>
            <a:pPr algn="ctr"/>
            <a:r>
              <a:rPr sz="900" b="1">
                <a:solidFill>
                  <a:srgbClr val="B45309"/>
                </a:solidFill>
                <a:latin typeface="Calibri"/>
              </a:rPr>
              <a:t>30/09/2024</a:t>
            </a:r>
          </a:p>
        </p:txBody>
      </p:sp>
      <p:sp>
        <p:nvSpPr>
          <p:cNvPr id="216" name="TextBox 215"/>
          <p:cNvSpPr txBox="1"/>
          <p:nvPr/>
        </p:nvSpPr>
        <p:spPr>
          <a:xfrm>
            <a:off x="6391275" y="5858827"/>
            <a:ext cx="4956810" cy="381000"/>
          </a:xfrm>
          <a:prstGeom prst="rect">
            <a:avLst/>
          </a:prstGeom>
          <a:noFill/>
        </p:spPr>
        <p:txBody>
          <a:bodyPr wrap="square" lIns="0" rIns="0" tIns="0" bIns="0" anchor="t">
            <a:spAutoFit/>
          </a:bodyPr>
          <a:lstStyle/>
          <a:p>
            <a:pPr algn="l">
              <a:lnSpc>
                <a:spcPct val="132000"/>
              </a:lnSpc>
            </a:pPr>
            <a:r>
              <a:rPr sz="1000" b="0">
                <a:solidFill>
                  <a:srgbClr val="5A6B85"/>
                </a:solidFill>
                <a:latin typeface="Calibri"/>
              </a:rPr>
              <a:t>Suy từ đồ thị, </a:t>
            </a:r>
            <a:r>
              <a:rPr sz="1000" b="1">
                <a:solidFill>
                  <a:srgbClr val="1E3050"/>
                </a:solidFill>
                <a:latin typeface="Calibri"/>
              </a:rPr>
              <a:t>không do mô hình phát biểu</a:t>
            </a:r>
            <a:r>
              <a:rPr sz="1000" b="0">
                <a:solidFill>
                  <a:srgbClr val="5A6B85"/>
                </a:solidFill>
                <a:latin typeface="Calibri"/>
              </a:rPr>
              <a:t>. Hệ không tự kết luận người dùng thuộc quy định nào.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Kết quả truy hồi: 0,737 → 0,853</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4365" y="1284922"/>
            <a:ext cx="10923270" cy="438150"/>
          </a:xfrm>
          <a:prstGeom prst="roundRect">
            <a:avLst>
              <a:gd name="adj" fmla="val 17391"/>
            </a:avLst>
          </a:prstGeom>
          <a:solidFill>
            <a:srgbClr val="FD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4365" y="1284922"/>
            <a:ext cx="47625" cy="43815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5815" y="1361122"/>
            <a:ext cx="10580370" cy="323850"/>
          </a:xfrm>
          <a:prstGeom prst="rect">
            <a:avLst/>
          </a:prstGeom>
          <a:noFill/>
        </p:spPr>
        <p:txBody>
          <a:bodyPr wrap="square" lIns="0" rIns="0" tIns="0" bIns="0" anchor="t">
            <a:spAutoFit/>
          </a:bodyPr>
          <a:lstStyle/>
          <a:p>
            <a:pPr algn="l">
              <a:lnSpc>
                <a:spcPct val="135000"/>
              </a:lnSpc>
            </a:pPr>
            <a:r>
              <a:rPr sz="950" b="1">
                <a:solidFill>
                  <a:srgbClr val="8A4708"/>
                </a:solidFill>
                <a:latin typeface="Calibri"/>
              </a:rPr>
              <a:t>Đây là thang đo khác với Bảng 4.4 của báo cáo. </a:t>
            </a:r>
            <a:r>
              <a:rPr sz="950" b="0">
                <a:solidFill>
                  <a:srgbClr val="7A4A12"/>
                </a:solidFill>
                <a:latin typeface="Calibri"/>
              </a:rPr>
              <a:t>Con số dưới đây là tỉ lệ lấy đúng điều khoản chứa đáp án — chỉ đo khâu truy hồi, tất định, không gọi mô hình sinh. F1 trích dẫn 0,617 của báo cáo đo cả đường, gồm cả khâu sinh. Hai con số không so thẳng với nhau được.</a:t>
            </a:r>
          </a:p>
        </p:txBody>
      </p:sp>
      <p:sp>
        <p:nvSpPr>
          <p:cNvPr id="8" name="TextBox 7"/>
          <p:cNvSpPr txBox="1"/>
          <p:nvPr/>
        </p:nvSpPr>
        <p:spPr>
          <a:xfrm>
            <a:off x="634365" y="1875472"/>
            <a:ext cx="2857500" cy="153288"/>
          </a:xfrm>
          <a:prstGeom prst="rect">
            <a:avLst/>
          </a:prstGeom>
          <a:noFill/>
        </p:spPr>
        <p:txBody>
          <a:bodyPr wrap="square" lIns="0" rIns="0" tIns="0" bIns="0" anchor="t">
            <a:spAutoFit/>
          </a:bodyPr>
          <a:lstStyle/>
          <a:p>
            <a:pPr algn="l"/>
            <a:r>
              <a:rPr sz="850" b="1" spc="110">
                <a:solidFill>
                  <a:srgbClr val="5A6B85"/>
                </a:solidFill>
                <a:latin typeface="Calibri"/>
              </a:rPr>
              <a:t>CỘNG DỒN TỪNG BƯỚC · 123 CÂU</a:t>
            </a:r>
          </a:p>
        </p:txBody>
      </p:sp>
      <p:sp>
        <p:nvSpPr>
          <p:cNvPr id="9" name="Rectangle 8"/>
          <p:cNvSpPr/>
          <p:nvPr/>
        </p:nvSpPr>
        <p:spPr>
          <a:xfrm>
            <a:off x="958215" y="3536632"/>
            <a:ext cx="4794884" cy="9525"/>
          </a:xfrm>
          <a:prstGeom prst="rect">
            <a:avLst/>
          </a:prstGeom>
          <a:solidFill>
            <a:srgbClr val="E7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365" y="3469957"/>
            <a:ext cx="285750" cy="153288"/>
          </a:xfrm>
          <a:prstGeom prst="rect">
            <a:avLst/>
          </a:prstGeom>
          <a:noFill/>
        </p:spPr>
        <p:txBody>
          <a:bodyPr wrap="square" lIns="0" rIns="0" tIns="0" bIns="0" anchor="t">
            <a:spAutoFit/>
          </a:bodyPr>
          <a:lstStyle/>
          <a:p>
            <a:pPr algn="r"/>
            <a:r>
              <a:rPr sz="850" b="0">
                <a:solidFill>
                  <a:srgbClr val="A6B0C0"/>
                </a:solidFill>
                <a:latin typeface="Calibri"/>
              </a:rPr>
              <a:t>0,75</a:t>
            </a:r>
          </a:p>
        </p:txBody>
      </p:sp>
      <p:sp>
        <p:nvSpPr>
          <p:cNvPr id="11" name="Rectangle 10"/>
          <p:cNvSpPr/>
          <p:nvPr/>
        </p:nvSpPr>
        <p:spPr>
          <a:xfrm>
            <a:off x="958215" y="3003232"/>
            <a:ext cx="4794884" cy="9525"/>
          </a:xfrm>
          <a:prstGeom prst="rect">
            <a:avLst/>
          </a:prstGeom>
          <a:solidFill>
            <a:srgbClr val="E7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365" y="2936557"/>
            <a:ext cx="285750" cy="153288"/>
          </a:xfrm>
          <a:prstGeom prst="rect">
            <a:avLst/>
          </a:prstGeom>
          <a:noFill/>
        </p:spPr>
        <p:txBody>
          <a:bodyPr wrap="square" lIns="0" rIns="0" tIns="0" bIns="0" anchor="t">
            <a:spAutoFit/>
          </a:bodyPr>
          <a:lstStyle/>
          <a:p>
            <a:pPr algn="r"/>
            <a:r>
              <a:rPr sz="850" b="0">
                <a:solidFill>
                  <a:srgbClr val="A6B0C0"/>
                </a:solidFill>
                <a:latin typeface="Calibri"/>
              </a:rPr>
              <a:t>0,80</a:t>
            </a:r>
          </a:p>
        </p:txBody>
      </p:sp>
      <p:sp>
        <p:nvSpPr>
          <p:cNvPr id="13" name="Rectangle 12"/>
          <p:cNvSpPr/>
          <p:nvPr/>
        </p:nvSpPr>
        <p:spPr>
          <a:xfrm>
            <a:off x="958215" y="2469832"/>
            <a:ext cx="4794884" cy="9525"/>
          </a:xfrm>
          <a:prstGeom prst="rect">
            <a:avLst/>
          </a:prstGeom>
          <a:solidFill>
            <a:srgbClr val="E7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365" y="2403157"/>
            <a:ext cx="285750" cy="153288"/>
          </a:xfrm>
          <a:prstGeom prst="rect">
            <a:avLst/>
          </a:prstGeom>
          <a:noFill/>
        </p:spPr>
        <p:txBody>
          <a:bodyPr wrap="square" lIns="0" rIns="0" tIns="0" bIns="0" anchor="t">
            <a:spAutoFit/>
          </a:bodyPr>
          <a:lstStyle/>
          <a:p>
            <a:pPr algn="r"/>
            <a:r>
              <a:rPr sz="850" b="0">
                <a:solidFill>
                  <a:srgbClr val="A6B0C0"/>
                </a:solidFill>
                <a:latin typeface="Calibri"/>
              </a:rPr>
              <a:t>0,85</a:t>
            </a:r>
          </a:p>
        </p:txBody>
      </p:sp>
      <p:sp>
        <p:nvSpPr>
          <p:cNvPr id="15" name="Rectangle 14"/>
          <p:cNvSpPr/>
          <p:nvPr/>
        </p:nvSpPr>
        <p:spPr>
          <a:xfrm>
            <a:off x="958215" y="3856672"/>
            <a:ext cx="4794884" cy="13334"/>
          </a:xfrm>
          <a:prstGeom prst="rect">
            <a:avLst/>
          </a:prstGeom>
          <a:solidFill>
            <a:srgbClr val="D5D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1110615" y="3504628"/>
            <a:ext cx="1471295" cy="170688"/>
          </a:xfrm>
          <a:prstGeom prst="bentConnector3">
            <a:avLst/>
          </a:prstGeom>
          <a:ln w="33020">
            <a:solidFill>
              <a:srgbClr val="1554A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581910" y="3003232"/>
            <a:ext cx="1471294" cy="501396"/>
          </a:xfrm>
          <a:prstGeom prst="bentConnector3">
            <a:avLst/>
          </a:prstGeom>
          <a:ln w="33020">
            <a:solidFill>
              <a:srgbClr val="1554A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053204" y="2437828"/>
            <a:ext cx="1471295" cy="565404"/>
          </a:xfrm>
          <a:prstGeom prst="bentConnector3">
            <a:avLst/>
          </a:prstGeom>
          <a:ln w="33020">
            <a:solidFill>
              <a:srgbClr val="1554A5"/>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48702" y="3613403"/>
            <a:ext cx="123824" cy="123824"/>
          </a:xfrm>
          <a:prstGeom prst="ellipse">
            <a:avLst/>
          </a:prstGeom>
          <a:solidFill>
            <a:srgbClr val="FFFFFF"/>
          </a:solidFill>
          <a:ln w="30480">
            <a:solidFill>
              <a:srgbClr val="155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114" y="3351466"/>
            <a:ext cx="1143000" cy="234441"/>
          </a:xfrm>
          <a:prstGeom prst="rect">
            <a:avLst/>
          </a:prstGeom>
          <a:noFill/>
        </p:spPr>
        <p:txBody>
          <a:bodyPr wrap="square" lIns="0" rIns="0" tIns="0" bIns="0" anchor="t">
            <a:spAutoFit/>
          </a:bodyPr>
          <a:lstStyle/>
          <a:p>
            <a:pPr algn="ctr"/>
            <a:r>
              <a:rPr sz="1300" b="1">
                <a:solidFill>
                  <a:srgbClr val="1E3050"/>
                </a:solidFill>
                <a:latin typeface="Calibri"/>
              </a:rPr>
              <a:t>0,737</a:t>
            </a:r>
          </a:p>
        </p:txBody>
      </p:sp>
      <p:sp>
        <p:nvSpPr>
          <p:cNvPr id="21" name="TextBox 20"/>
          <p:cNvSpPr txBox="1"/>
          <p:nvPr/>
        </p:nvSpPr>
        <p:spPr>
          <a:xfrm>
            <a:off x="443864" y="3951922"/>
            <a:ext cx="1333500" cy="171450"/>
          </a:xfrm>
          <a:prstGeom prst="rect">
            <a:avLst/>
          </a:prstGeom>
          <a:noFill/>
        </p:spPr>
        <p:txBody>
          <a:bodyPr wrap="square" lIns="0" rIns="0" tIns="0" bIns="0" anchor="t">
            <a:spAutoFit/>
          </a:bodyPr>
          <a:lstStyle/>
          <a:p>
            <a:pPr algn="ctr"/>
            <a:r>
              <a:rPr sz="950" b="0">
                <a:solidFill>
                  <a:srgbClr val="5A6B85"/>
                </a:solidFill>
                <a:latin typeface="Calibri"/>
              </a:rPr>
              <a:t>trước cải tiến</a:t>
            </a:r>
          </a:p>
        </p:txBody>
      </p:sp>
      <p:sp>
        <p:nvSpPr>
          <p:cNvPr id="22" name="Oval 21"/>
          <p:cNvSpPr/>
          <p:nvPr/>
        </p:nvSpPr>
        <p:spPr>
          <a:xfrm>
            <a:off x="2519997" y="3442715"/>
            <a:ext cx="123824" cy="123824"/>
          </a:xfrm>
          <a:prstGeom prst="ellipse">
            <a:avLst/>
          </a:prstGeom>
          <a:solidFill>
            <a:srgbClr val="FFFFFF"/>
          </a:solidFill>
          <a:ln w="30480">
            <a:solidFill>
              <a:srgbClr val="155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0410" y="3180778"/>
            <a:ext cx="1143000" cy="234441"/>
          </a:xfrm>
          <a:prstGeom prst="rect">
            <a:avLst/>
          </a:prstGeom>
          <a:noFill/>
        </p:spPr>
        <p:txBody>
          <a:bodyPr wrap="square" lIns="0" rIns="0" tIns="0" bIns="0" anchor="t">
            <a:spAutoFit/>
          </a:bodyPr>
          <a:lstStyle/>
          <a:p>
            <a:pPr algn="ctr"/>
            <a:r>
              <a:rPr sz="1300" b="1">
                <a:solidFill>
                  <a:srgbClr val="1E3050"/>
                </a:solidFill>
                <a:latin typeface="Calibri"/>
              </a:rPr>
              <a:t>0,753</a:t>
            </a:r>
          </a:p>
        </p:txBody>
      </p:sp>
      <p:sp>
        <p:nvSpPr>
          <p:cNvPr id="24" name="TextBox 23"/>
          <p:cNvSpPr txBox="1"/>
          <p:nvPr/>
        </p:nvSpPr>
        <p:spPr>
          <a:xfrm>
            <a:off x="1915160" y="3951922"/>
            <a:ext cx="1333500" cy="171450"/>
          </a:xfrm>
          <a:prstGeom prst="rect">
            <a:avLst/>
          </a:prstGeom>
          <a:noFill/>
        </p:spPr>
        <p:txBody>
          <a:bodyPr wrap="square" lIns="0" rIns="0" tIns="0" bIns="0" anchor="t">
            <a:spAutoFit/>
          </a:bodyPr>
          <a:lstStyle/>
          <a:p>
            <a:pPr algn="ctr"/>
            <a:r>
              <a:rPr sz="950" b="0">
                <a:solidFill>
                  <a:srgbClr val="5A6B85"/>
                </a:solidFill>
                <a:latin typeface="Calibri"/>
              </a:rPr>
              <a:t>+ dẫn chiếu</a:t>
            </a:r>
          </a:p>
        </p:txBody>
      </p:sp>
      <p:sp>
        <p:nvSpPr>
          <p:cNvPr id="25" name="Oval 24"/>
          <p:cNvSpPr/>
          <p:nvPr/>
        </p:nvSpPr>
        <p:spPr>
          <a:xfrm>
            <a:off x="3991292" y="2941319"/>
            <a:ext cx="123824" cy="123824"/>
          </a:xfrm>
          <a:prstGeom prst="ellipse">
            <a:avLst/>
          </a:prstGeom>
          <a:solidFill>
            <a:srgbClr val="FFFFFF"/>
          </a:solidFill>
          <a:ln w="30480">
            <a:solidFill>
              <a:srgbClr val="155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81704" y="2679382"/>
            <a:ext cx="1143000" cy="234441"/>
          </a:xfrm>
          <a:prstGeom prst="rect">
            <a:avLst/>
          </a:prstGeom>
          <a:noFill/>
        </p:spPr>
        <p:txBody>
          <a:bodyPr wrap="square" lIns="0" rIns="0" tIns="0" bIns="0" anchor="t">
            <a:spAutoFit/>
          </a:bodyPr>
          <a:lstStyle/>
          <a:p>
            <a:pPr algn="ctr"/>
            <a:r>
              <a:rPr sz="1300" b="1">
                <a:solidFill>
                  <a:srgbClr val="1E3050"/>
                </a:solidFill>
                <a:latin typeface="Calibri"/>
              </a:rPr>
              <a:t>0,800</a:t>
            </a:r>
          </a:p>
        </p:txBody>
      </p:sp>
      <p:sp>
        <p:nvSpPr>
          <p:cNvPr id="27" name="TextBox 26"/>
          <p:cNvSpPr txBox="1"/>
          <p:nvPr/>
        </p:nvSpPr>
        <p:spPr>
          <a:xfrm>
            <a:off x="3386455" y="3951922"/>
            <a:ext cx="1333500" cy="171450"/>
          </a:xfrm>
          <a:prstGeom prst="rect">
            <a:avLst/>
          </a:prstGeom>
          <a:noFill/>
        </p:spPr>
        <p:txBody>
          <a:bodyPr wrap="square" lIns="0" rIns="0" tIns="0" bIns="0" anchor="t">
            <a:spAutoFit/>
          </a:bodyPr>
          <a:lstStyle/>
          <a:p>
            <a:pPr algn="ctr"/>
            <a:r>
              <a:rPr sz="950" b="0">
                <a:solidFill>
                  <a:srgbClr val="5A6B85"/>
                </a:solidFill>
                <a:latin typeface="Calibri"/>
              </a:rPr>
              <a:t>+ cross-encoder</a:t>
            </a:r>
          </a:p>
        </p:txBody>
      </p:sp>
      <p:sp>
        <p:nvSpPr>
          <p:cNvPr id="28" name="Oval 27"/>
          <p:cNvSpPr/>
          <p:nvPr/>
        </p:nvSpPr>
        <p:spPr>
          <a:xfrm>
            <a:off x="5438774" y="2352103"/>
            <a:ext cx="171450" cy="171450"/>
          </a:xfrm>
          <a:prstGeom prst="ellipse">
            <a:avLst/>
          </a:prstGeom>
          <a:solidFill>
            <a:srgbClr val="1554A5"/>
          </a:solidFill>
          <a:ln w="30480">
            <a:solidFill>
              <a:srgbClr val="155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9" y="2113978"/>
            <a:ext cx="1143000" cy="288544"/>
          </a:xfrm>
          <a:prstGeom prst="rect">
            <a:avLst/>
          </a:prstGeom>
          <a:noFill/>
        </p:spPr>
        <p:txBody>
          <a:bodyPr wrap="square" lIns="0" rIns="0" tIns="0" bIns="0" anchor="t">
            <a:spAutoFit/>
          </a:bodyPr>
          <a:lstStyle/>
          <a:p>
            <a:pPr algn="ctr"/>
            <a:r>
              <a:rPr sz="1600" b="1">
                <a:solidFill>
                  <a:srgbClr val="1E3050"/>
                </a:solidFill>
                <a:latin typeface="Calibri"/>
              </a:rPr>
              <a:t>0,853</a:t>
            </a:r>
          </a:p>
        </p:txBody>
      </p:sp>
      <p:sp>
        <p:nvSpPr>
          <p:cNvPr id="30" name="TextBox 29"/>
          <p:cNvSpPr txBox="1"/>
          <p:nvPr/>
        </p:nvSpPr>
        <p:spPr>
          <a:xfrm>
            <a:off x="4857749" y="3951922"/>
            <a:ext cx="1333500" cy="171450"/>
          </a:xfrm>
          <a:prstGeom prst="rect">
            <a:avLst/>
          </a:prstGeom>
          <a:noFill/>
        </p:spPr>
        <p:txBody>
          <a:bodyPr wrap="square" lIns="0" rIns="0" tIns="0" bIns="0" anchor="t">
            <a:spAutoFit/>
          </a:bodyPr>
          <a:lstStyle/>
          <a:p>
            <a:pPr algn="ctr"/>
            <a:r>
              <a:rPr sz="950" b="0">
                <a:solidFill>
                  <a:srgbClr val="5A6B85"/>
                </a:solidFill>
                <a:latin typeface="Calibri"/>
              </a:rPr>
              <a:t>+ mở rộng</a:t>
            </a:r>
          </a:p>
        </p:txBody>
      </p:sp>
      <p:sp>
        <p:nvSpPr>
          <p:cNvPr id="31" name="Rounded Rectangle 30"/>
          <p:cNvSpPr/>
          <p:nvPr/>
        </p:nvSpPr>
        <p:spPr>
          <a:xfrm>
            <a:off x="634365" y="4218622"/>
            <a:ext cx="1680845" cy="533400"/>
          </a:xfrm>
          <a:prstGeom prst="roundRect">
            <a:avLst>
              <a:gd name="adj" fmla="val 14285"/>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7714" y="4332922"/>
            <a:ext cx="1414145" cy="306577"/>
          </a:xfrm>
          <a:prstGeom prst="rect">
            <a:avLst/>
          </a:prstGeom>
          <a:noFill/>
        </p:spPr>
        <p:txBody>
          <a:bodyPr wrap="square" lIns="0" rIns="0" tIns="0" bIns="0" anchor="t">
            <a:spAutoFit/>
          </a:bodyPr>
          <a:lstStyle/>
          <a:p>
            <a:pPr algn="l"/>
            <a:r>
              <a:rPr sz="1700" b="1">
                <a:solidFill>
                  <a:srgbClr val="1554A5"/>
                </a:solidFill>
                <a:latin typeface="Calibri"/>
              </a:rPr>
              <a:t>+0,116</a:t>
            </a:r>
          </a:p>
        </p:txBody>
      </p:sp>
      <p:sp>
        <p:nvSpPr>
          <p:cNvPr id="33" name="TextBox 32"/>
          <p:cNvSpPr txBox="1"/>
          <p:nvPr/>
        </p:nvSpPr>
        <p:spPr>
          <a:xfrm>
            <a:off x="767714" y="4561522"/>
            <a:ext cx="1414145" cy="153288"/>
          </a:xfrm>
          <a:prstGeom prst="rect">
            <a:avLst/>
          </a:prstGeom>
          <a:noFill/>
        </p:spPr>
        <p:txBody>
          <a:bodyPr wrap="square" lIns="0" rIns="0" tIns="0" bIns="0" anchor="t">
            <a:spAutoFit/>
          </a:bodyPr>
          <a:lstStyle/>
          <a:p>
            <a:pPr algn="l"/>
            <a:r>
              <a:rPr sz="850" b="0">
                <a:solidFill>
                  <a:srgbClr val="2C4A72"/>
                </a:solidFill>
                <a:latin typeface="Calibri"/>
              </a:rPr>
              <a:t>chênh lệch ghép cặp</a:t>
            </a:r>
          </a:p>
        </p:txBody>
      </p:sp>
      <p:sp>
        <p:nvSpPr>
          <p:cNvPr id="34" name="Rounded Rectangle 33"/>
          <p:cNvSpPr/>
          <p:nvPr/>
        </p:nvSpPr>
        <p:spPr>
          <a:xfrm>
            <a:off x="2429510" y="4218622"/>
            <a:ext cx="1680845" cy="533400"/>
          </a:xfrm>
          <a:prstGeom prst="roundRect">
            <a:avLst>
              <a:gd name="adj" fmla="val 14285"/>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2860" y="4332922"/>
            <a:ext cx="1414145" cy="243459"/>
          </a:xfrm>
          <a:prstGeom prst="rect">
            <a:avLst/>
          </a:prstGeom>
          <a:noFill/>
        </p:spPr>
        <p:txBody>
          <a:bodyPr wrap="square" lIns="0" rIns="0" tIns="0" bIns="0" anchor="t">
            <a:spAutoFit/>
          </a:bodyPr>
          <a:lstStyle/>
          <a:p>
            <a:pPr algn="l"/>
            <a:r>
              <a:rPr sz="1350" b="1">
                <a:solidFill>
                  <a:srgbClr val="1554A5"/>
                </a:solidFill>
                <a:latin typeface="Calibri"/>
              </a:rPr>
              <a:t>0,064–0,171</a:t>
            </a:r>
          </a:p>
        </p:txBody>
      </p:sp>
      <p:sp>
        <p:nvSpPr>
          <p:cNvPr id="36" name="TextBox 35"/>
          <p:cNvSpPr txBox="1"/>
          <p:nvPr/>
        </p:nvSpPr>
        <p:spPr>
          <a:xfrm>
            <a:off x="2562860" y="4561522"/>
            <a:ext cx="1414145" cy="153288"/>
          </a:xfrm>
          <a:prstGeom prst="rect">
            <a:avLst/>
          </a:prstGeom>
          <a:noFill/>
        </p:spPr>
        <p:txBody>
          <a:bodyPr wrap="square" lIns="0" rIns="0" tIns="0" bIns="0" anchor="t">
            <a:spAutoFit/>
          </a:bodyPr>
          <a:lstStyle/>
          <a:p>
            <a:pPr algn="l"/>
            <a:r>
              <a:rPr sz="850" b="0">
                <a:solidFill>
                  <a:srgbClr val="2C4A72"/>
                </a:solidFill>
                <a:latin typeface="Calibri"/>
              </a:rPr>
              <a:t>khoảng tin cậy 95%</a:t>
            </a:r>
          </a:p>
        </p:txBody>
      </p:sp>
      <p:sp>
        <p:nvSpPr>
          <p:cNvPr id="37" name="Rounded Rectangle 36"/>
          <p:cNvSpPr/>
          <p:nvPr/>
        </p:nvSpPr>
        <p:spPr>
          <a:xfrm>
            <a:off x="4224655" y="4218622"/>
            <a:ext cx="1680845" cy="533400"/>
          </a:xfrm>
          <a:prstGeom prst="roundRect">
            <a:avLst>
              <a:gd name="adj" fmla="val 14285"/>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58004" y="4332922"/>
            <a:ext cx="1414145" cy="243459"/>
          </a:xfrm>
          <a:prstGeom prst="rect">
            <a:avLst/>
          </a:prstGeom>
          <a:noFill/>
        </p:spPr>
        <p:txBody>
          <a:bodyPr wrap="square" lIns="0" rIns="0" tIns="0" bIns="0" anchor="t">
            <a:spAutoFit/>
          </a:bodyPr>
          <a:lstStyle/>
          <a:p>
            <a:pPr algn="l"/>
            <a:r>
              <a:rPr sz="1350" b="1">
                <a:solidFill>
                  <a:srgbClr val="1554A5"/>
                </a:solidFill>
                <a:latin typeface="Calibri"/>
              </a:rPr>
              <a:t>p = 0,00007</a:t>
            </a:r>
          </a:p>
        </p:txBody>
      </p:sp>
      <p:sp>
        <p:nvSpPr>
          <p:cNvPr id="39" name="TextBox 38"/>
          <p:cNvSpPr txBox="1"/>
          <p:nvPr/>
        </p:nvSpPr>
        <p:spPr>
          <a:xfrm>
            <a:off x="4358004" y="4561522"/>
            <a:ext cx="1414145" cy="153288"/>
          </a:xfrm>
          <a:prstGeom prst="rect">
            <a:avLst/>
          </a:prstGeom>
          <a:noFill/>
        </p:spPr>
        <p:txBody>
          <a:bodyPr wrap="square" lIns="0" rIns="0" tIns="0" bIns="0" anchor="t">
            <a:spAutoFit/>
          </a:bodyPr>
          <a:lstStyle/>
          <a:p>
            <a:pPr algn="l"/>
            <a:r>
              <a:rPr sz="850" b="0">
                <a:solidFill>
                  <a:srgbClr val="2C4A72"/>
                </a:solidFill>
                <a:latin typeface="Calibri"/>
              </a:rPr>
              <a:t>kiểm định Wilcoxon</a:t>
            </a:r>
          </a:p>
        </p:txBody>
      </p:sp>
      <p:sp>
        <p:nvSpPr>
          <p:cNvPr id="40" name="Rounded Rectangle 39"/>
          <p:cNvSpPr/>
          <p:nvPr/>
        </p:nvSpPr>
        <p:spPr>
          <a:xfrm>
            <a:off x="634365" y="4828222"/>
            <a:ext cx="5271135" cy="323850"/>
          </a:xfrm>
          <a:prstGeom prst="roundRect">
            <a:avLst>
              <a:gd name="adj" fmla="val 23529"/>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7714" y="4913947"/>
            <a:ext cx="5004435" cy="180339"/>
          </a:xfrm>
          <a:prstGeom prst="rect">
            <a:avLst/>
          </a:prstGeom>
          <a:noFill/>
        </p:spPr>
        <p:txBody>
          <a:bodyPr wrap="square" lIns="0" rIns="0" tIns="0" bIns="0" anchor="t">
            <a:spAutoFit/>
          </a:bodyPr>
          <a:lstStyle/>
          <a:p>
            <a:pPr algn="l"/>
            <a:r>
              <a:rPr sz="1000" b="1">
                <a:solidFill>
                  <a:srgbClr val="1554A5"/>
                </a:solidFill>
                <a:latin typeface="Calibri"/>
              </a:rPr>
              <a:t>26 câu tốt lên</a:t>
            </a:r>
            <a:r>
              <a:rPr sz="1000" b="0">
                <a:solidFill>
                  <a:srgbClr val="5A6B85"/>
                </a:solidFill>
                <a:latin typeface="Calibri"/>
              </a:rPr>
              <a:t> · </a:t>
            </a:r>
            <a:r>
              <a:rPr sz="1000" b="1">
                <a:solidFill>
                  <a:srgbClr val="C0392B"/>
                </a:solidFill>
                <a:latin typeface="Calibri"/>
              </a:rPr>
              <a:t>4 câu kém đi</a:t>
            </a:r>
            <a:r>
              <a:rPr sz="1000" b="0">
                <a:solidFill>
                  <a:srgbClr val="5A6B85"/>
                </a:solidFill>
                <a:latin typeface="Calibri"/>
              </a:rPr>
              <a:t> · </a:t>
            </a:r>
            <a:r>
              <a:rPr sz="1000" b="1">
                <a:solidFill>
                  <a:srgbClr val="1E3050"/>
                </a:solidFill>
                <a:latin typeface="Calibri"/>
              </a:rPr>
              <a:t>93 câu không đổi</a:t>
            </a:r>
          </a:p>
        </p:txBody>
      </p:sp>
      <p:sp>
        <p:nvSpPr>
          <p:cNvPr id="42" name="TextBox 41"/>
          <p:cNvSpPr txBox="1"/>
          <p:nvPr/>
        </p:nvSpPr>
        <p:spPr>
          <a:xfrm>
            <a:off x="6286500" y="1875472"/>
            <a:ext cx="3810000" cy="153288"/>
          </a:xfrm>
          <a:prstGeom prst="rect">
            <a:avLst/>
          </a:prstGeom>
          <a:noFill/>
        </p:spPr>
        <p:txBody>
          <a:bodyPr wrap="square" lIns="0" rIns="0" tIns="0" bIns="0" anchor="t">
            <a:spAutoFit/>
          </a:bodyPr>
          <a:lstStyle/>
          <a:p>
            <a:pPr algn="l"/>
            <a:r>
              <a:rPr sz="850" b="1" spc="110">
                <a:solidFill>
                  <a:srgbClr val="5A6B85"/>
                </a:solidFill>
                <a:latin typeface="Calibri"/>
              </a:rPr>
              <a:t>MỨC TĂNG TRONG TỪNG NHÓM THÁCH THỨC</a:t>
            </a:r>
          </a:p>
        </p:txBody>
      </p:sp>
      <p:sp>
        <p:nvSpPr>
          <p:cNvPr id="43" name="TextBox 42"/>
          <p:cNvSpPr txBox="1"/>
          <p:nvPr/>
        </p:nvSpPr>
        <p:spPr>
          <a:xfrm>
            <a:off x="6286500" y="2199322"/>
            <a:ext cx="1714500" cy="216408"/>
          </a:xfrm>
          <a:prstGeom prst="rect">
            <a:avLst/>
          </a:prstGeom>
          <a:noFill/>
        </p:spPr>
        <p:txBody>
          <a:bodyPr wrap="square" lIns="0" rIns="0" tIns="0" bIns="0" anchor="t">
            <a:spAutoFit/>
          </a:bodyPr>
          <a:lstStyle/>
          <a:p>
            <a:pPr algn="l"/>
            <a:r>
              <a:rPr sz="1200" b="1">
                <a:solidFill>
                  <a:srgbClr val="1E3050"/>
                </a:solidFill>
                <a:latin typeface="Calibri"/>
              </a:rPr>
              <a:t>Đa lĩnh vực</a:t>
            </a:r>
          </a:p>
        </p:txBody>
      </p:sp>
      <p:sp>
        <p:nvSpPr>
          <p:cNvPr id="44" name="TextBox 43"/>
          <p:cNvSpPr txBox="1"/>
          <p:nvPr/>
        </p:nvSpPr>
        <p:spPr>
          <a:xfrm>
            <a:off x="6286500" y="2389822"/>
            <a:ext cx="1714500" cy="171322"/>
          </a:xfrm>
          <a:prstGeom prst="rect">
            <a:avLst/>
          </a:prstGeom>
          <a:noFill/>
        </p:spPr>
        <p:txBody>
          <a:bodyPr wrap="square" lIns="0" rIns="0" tIns="0" bIns="0" anchor="t">
            <a:spAutoFit/>
          </a:bodyPr>
          <a:lstStyle/>
          <a:p>
            <a:pPr algn="l"/>
            <a:r>
              <a:rPr sz="950" b="0">
                <a:solidFill>
                  <a:srgbClr val="5A6B85"/>
                </a:solidFill>
                <a:latin typeface="Calibri"/>
              </a:rPr>
              <a:t>32 câu</a:t>
            </a:r>
          </a:p>
        </p:txBody>
      </p:sp>
      <p:sp>
        <p:nvSpPr>
          <p:cNvPr id="45" name="Rounded Rectangle 44"/>
          <p:cNvSpPr/>
          <p:nvPr/>
        </p:nvSpPr>
        <p:spPr>
          <a:xfrm>
            <a:off x="8096249" y="2218372"/>
            <a:ext cx="2317089" cy="209550"/>
          </a:xfrm>
          <a:prstGeom prst="roundRect">
            <a:avLst>
              <a:gd name="adj" fmla="val 2727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08589" y="2246947"/>
            <a:ext cx="857250" cy="216408"/>
          </a:xfrm>
          <a:prstGeom prst="rect">
            <a:avLst/>
          </a:prstGeom>
          <a:noFill/>
        </p:spPr>
        <p:txBody>
          <a:bodyPr wrap="square" lIns="0" rIns="0" tIns="0" bIns="0" anchor="t">
            <a:spAutoFit/>
          </a:bodyPr>
          <a:lstStyle/>
          <a:p>
            <a:pPr algn="l"/>
            <a:r>
              <a:rPr sz="1200" b="1">
                <a:solidFill>
                  <a:srgbClr val="1554A5"/>
                </a:solidFill>
                <a:latin typeface="Calibri"/>
              </a:rPr>
              <a:t>+0,216</a:t>
            </a:r>
          </a:p>
        </p:txBody>
      </p:sp>
      <p:sp>
        <p:nvSpPr>
          <p:cNvPr id="47" name="TextBox 46"/>
          <p:cNvSpPr txBox="1"/>
          <p:nvPr/>
        </p:nvSpPr>
        <p:spPr>
          <a:xfrm>
            <a:off x="6286500" y="2732722"/>
            <a:ext cx="1714500" cy="216408"/>
          </a:xfrm>
          <a:prstGeom prst="rect">
            <a:avLst/>
          </a:prstGeom>
          <a:noFill/>
        </p:spPr>
        <p:txBody>
          <a:bodyPr wrap="square" lIns="0" rIns="0" tIns="0" bIns="0" anchor="t">
            <a:spAutoFit/>
          </a:bodyPr>
          <a:lstStyle/>
          <a:p>
            <a:pPr algn="l"/>
            <a:r>
              <a:rPr sz="1200" b="1">
                <a:solidFill>
                  <a:srgbClr val="1E3050"/>
                </a:solidFill>
                <a:latin typeface="Calibri"/>
              </a:rPr>
              <a:t>Đa tầng văn bản</a:t>
            </a:r>
          </a:p>
        </p:txBody>
      </p:sp>
      <p:sp>
        <p:nvSpPr>
          <p:cNvPr id="48" name="TextBox 47"/>
          <p:cNvSpPr txBox="1"/>
          <p:nvPr/>
        </p:nvSpPr>
        <p:spPr>
          <a:xfrm>
            <a:off x="6286500" y="2923222"/>
            <a:ext cx="1714500" cy="171322"/>
          </a:xfrm>
          <a:prstGeom prst="rect">
            <a:avLst/>
          </a:prstGeom>
          <a:noFill/>
        </p:spPr>
        <p:txBody>
          <a:bodyPr wrap="square" lIns="0" rIns="0" tIns="0" bIns="0" anchor="t">
            <a:spAutoFit/>
          </a:bodyPr>
          <a:lstStyle/>
          <a:p>
            <a:pPr algn="l"/>
            <a:r>
              <a:rPr sz="950" b="0">
                <a:solidFill>
                  <a:srgbClr val="5A6B85"/>
                </a:solidFill>
                <a:latin typeface="Calibri"/>
              </a:rPr>
              <a:t>30 câu</a:t>
            </a:r>
          </a:p>
        </p:txBody>
      </p:sp>
      <p:sp>
        <p:nvSpPr>
          <p:cNvPr id="49" name="Rounded Rectangle 48"/>
          <p:cNvSpPr/>
          <p:nvPr/>
        </p:nvSpPr>
        <p:spPr>
          <a:xfrm>
            <a:off x="8096249" y="2751772"/>
            <a:ext cx="1641271" cy="209550"/>
          </a:xfrm>
          <a:prstGeom prst="roundRect">
            <a:avLst>
              <a:gd name="adj" fmla="val 2727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32771" y="2780347"/>
            <a:ext cx="857250" cy="216408"/>
          </a:xfrm>
          <a:prstGeom prst="rect">
            <a:avLst/>
          </a:prstGeom>
          <a:noFill/>
        </p:spPr>
        <p:txBody>
          <a:bodyPr wrap="square" lIns="0" rIns="0" tIns="0" bIns="0" anchor="t">
            <a:spAutoFit/>
          </a:bodyPr>
          <a:lstStyle/>
          <a:p>
            <a:pPr algn="l"/>
            <a:r>
              <a:rPr sz="1200" b="1">
                <a:solidFill>
                  <a:srgbClr val="1554A5"/>
                </a:solidFill>
                <a:latin typeface="Calibri"/>
              </a:rPr>
              <a:t>+0,153</a:t>
            </a:r>
          </a:p>
        </p:txBody>
      </p:sp>
      <p:sp>
        <p:nvSpPr>
          <p:cNvPr id="51" name="TextBox 50"/>
          <p:cNvSpPr txBox="1"/>
          <p:nvPr/>
        </p:nvSpPr>
        <p:spPr>
          <a:xfrm>
            <a:off x="6286500" y="3266122"/>
            <a:ext cx="1714500" cy="216408"/>
          </a:xfrm>
          <a:prstGeom prst="rect">
            <a:avLst/>
          </a:prstGeom>
          <a:noFill/>
        </p:spPr>
        <p:txBody>
          <a:bodyPr wrap="square" lIns="0" rIns="0" tIns="0" bIns="0" anchor="t">
            <a:spAutoFit/>
          </a:bodyPr>
          <a:lstStyle/>
          <a:p>
            <a:pPr algn="l"/>
            <a:r>
              <a:rPr sz="1200" b="1">
                <a:solidFill>
                  <a:srgbClr val="1E3050"/>
                </a:solidFill>
                <a:latin typeface="Calibri"/>
              </a:rPr>
              <a:t>Đa địa phương</a:t>
            </a:r>
          </a:p>
        </p:txBody>
      </p:sp>
      <p:sp>
        <p:nvSpPr>
          <p:cNvPr id="52" name="TextBox 51"/>
          <p:cNvSpPr txBox="1"/>
          <p:nvPr/>
        </p:nvSpPr>
        <p:spPr>
          <a:xfrm>
            <a:off x="6286500" y="3456622"/>
            <a:ext cx="1714500" cy="171322"/>
          </a:xfrm>
          <a:prstGeom prst="rect">
            <a:avLst/>
          </a:prstGeom>
          <a:noFill/>
        </p:spPr>
        <p:txBody>
          <a:bodyPr wrap="square" lIns="0" rIns="0" tIns="0" bIns="0" anchor="t">
            <a:spAutoFit/>
          </a:bodyPr>
          <a:lstStyle/>
          <a:p>
            <a:pPr algn="l"/>
            <a:r>
              <a:rPr sz="950" b="0">
                <a:solidFill>
                  <a:srgbClr val="5A6B85"/>
                </a:solidFill>
                <a:latin typeface="Calibri"/>
              </a:rPr>
              <a:t>31 câu</a:t>
            </a:r>
          </a:p>
        </p:txBody>
      </p:sp>
      <p:sp>
        <p:nvSpPr>
          <p:cNvPr id="53" name="Rounded Rectangle 52"/>
          <p:cNvSpPr/>
          <p:nvPr/>
        </p:nvSpPr>
        <p:spPr>
          <a:xfrm>
            <a:off x="8096249" y="3285172"/>
            <a:ext cx="740181" cy="209550"/>
          </a:xfrm>
          <a:prstGeom prst="roundRect">
            <a:avLst>
              <a:gd name="adj" fmla="val 27272"/>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31681" y="3313747"/>
            <a:ext cx="857250" cy="216408"/>
          </a:xfrm>
          <a:prstGeom prst="rect">
            <a:avLst/>
          </a:prstGeom>
          <a:noFill/>
        </p:spPr>
        <p:txBody>
          <a:bodyPr wrap="square" lIns="0" rIns="0" tIns="0" bIns="0" anchor="t">
            <a:spAutoFit/>
          </a:bodyPr>
          <a:lstStyle/>
          <a:p>
            <a:pPr algn="l"/>
            <a:r>
              <a:rPr sz="1200" b="1">
                <a:solidFill>
                  <a:srgbClr val="5A6B85"/>
                </a:solidFill>
                <a:latin typeface="Calibri"/>
              </a:rPr>
              <a:t>+0,069</a:t>
            </a:r>
          </a:p>
        </p:txBody>
      </p:sp>
      <p:sp>
        <p:nvSpPr>
          <p:cNvPr id="55" name="TextBox 54"/>
          <p:cNvSpPr txBox="1"/>
          <p:nvPr/>
        </p:nvSpPr>
        <p:spPr>
          <a:xfrm>
            <a:off x="6286500" y="3799522"/>
            <a:ext cx="1714500" cy="216408"/>
          </a:xfrm>
          <a:prstGeom prst="rect">
            <a:avLst/>
          </a:prstGeom>
          <a:noFill/>
        </p:spPr>
        <p:txBody>
          <a:bodyPr wrap="square" lIns="0" rIns="0" tIns="0" bIns="0" anchor="t">
            <a:spAutoFit/>
          </a:bodyPr>
          <a:lstStyle/>
          <a:p>
            <a:pPr algn="l"/>
            <a:r>
              <a:rPr sz="1200" b="1">
                <a:solidFill>
                  <a:srgbClr val="1E3050"/>
                </a:solidFill>
                <a:latin typeface="Calibri"/>
              </a:rPr>
              <a:t>Đa phiên bản</a:t>
            </a:r>
          </a:p>
        </p:txBody>
      </p:sp>
      <p:sp>
        <p:nvSpPr>
          <p:cNvPr id="56" name="TextBox 55"/>
          <p:cNvSpPr txBox="1"/>
          <p:nvPr/>
        </p:nvSpPr>
        <p:spPr>
          <a:xfrm>
            <a:off x="6286500" y="3990022"/>
            <a:ext cx="1714500" cy="171322"/>
          </a:xfrm>
          <a:prstGeom prst="rect">
            <a:avLst/>
          </a:prstGeom>
          <a:noFill/>
        </p:spPr>
        <p:txBody>
          <a:bodyPr wrap="square" lIns="0" rIns="0" tIns="0" bIns="0" anchor="t">
            <a:spAutoFit/>
          </a:bodyPr>
          <a:lstStyle/>
          <a:p>
            <a:pPr algn="l"/>
            <a:r>
              <a:rPr sz="950" b="0">
                <a:solidFill>
                  <a:srgbClr val="5A6B85"/>
                </a:solidFill>
                <a:latin typeface="Calibri"/>
              </a:rPr>
              <a:t>30 câu</a:t>
            </a:r>
          </a:p>
        </p:txBody>
      </p:sp>
      <p:sp>
        <p:nvSpPr>
          <p:cNvPr id="57" name="Rounded Rectangle 56"/>
          <p:cNvSpPr/>
          <p:nvPr/>
        </p:nvSpPr>
        <p:spPr>
          <a:xfrm>
            <a:off x="8096249" y="3818572"/>
            <a:ext cx="203818" cy="209550"/>
          </a:xfrm>
          <a:prstGeom prst="roundRect">
            <a:avLst>
              <a:gd name="adj" fmla="val 28039"/>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95318" y="3847147"/>
            <a:ext cx="857250" cy="216408"/>
          </a:xfrm>
          <a:prstGeom prst="rect">
            <a:avLst/>
          </a:prstGeom>
          <a:noFill/>
        </p:spPr>
        <p:txBody>
          <a:bodyPr wrap="square" lIns="0" rIns="0" tIns="0" bIns="0" anchor="t">
            <a:spAutoFit/>
          </a:bodyPr>
          <a:lstStyle/>
          <a:p>
            <a:pPr algn="l"/>
            <a:r>
              <a:rPr sz="1200" b="1">
                <a:solidFill>
                  <a:srgbClr val="5A6B85"/>
                </a:solidFill>
                <a:latin typeface="Calibri"/>
              </a:rPr>
              <a:t>+0,019</a:t>
            </a:r>
          </a:p>
        </p:txBody>
      </p:sp>
      <p:sp>
        <p:nvSpPr>
          <p:cNvPr id="59" name="Rounded Rectangle 58"/>
          <p:cNvSpPr/>
          <p:nvPr/>
        </p:nvSpPr>
        <p:spPr>
          <a:xfrm>
            <a:off x="6286500" y="4428172"/>
            <a:ext cx="5271135" cy="781050"/>
          </a:xfrm>
          <a:prstGeom prst="roundRect">
            <a:avLst>
              <a:gd name="adj" fmla="val 12195"/>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77000" y="4599622"/>
            <a:ext cx="4890135" cy="571500"/>
          </a:xfrm>
          <a:prstGeom prst="rect">
            <a:avLst/>
          </a:prstGeom>
          <a:noFill/>
        </p:spPr>
        <p:txBody>
          <a:bodyPr wrap="square" lIns="0" rIns="0" tIns="0" bIns="0" anchor="t">
            <a:spAutoFit/>
          </a:bodyPr>
          <a:lstStyle/>
          <a:p>
            <a:pPr algn="l">
              <a:lnSpc>
                <a:spcPct val="140000"/>
              </a:lnSpc>
            </a:pPr>
            <a:r>
              <a:rPr sz="1000" b="1">
                <a:solidFill>
                  <a:srgbClr val="8FC4F5"/>
                </a:solidFill>
                <a:latin typeface="Calibri"/>
              </a:rPr>
              <a:t>74 trên 123 câu (60%)</a:t>
            </a:r>
            <a:r>
              <a:rPr sz="1000" b="0">
                <a:solidFill>
                  <a:srgbClr val="DCE7F5"/>
                </a:solidFill>
                <a:latin typeface="Calibri"/>
              </a:rPr>
              <a:t> đã lấy đúng hoàn toàn từ trước — không còn chỗ cải thiện. Trên 49 câu còn lại, cải thiện được </a:t>
            </a:r>
            <a:r>
              <a:rPr sz="1000" b="1">
                <a:solidFill>
                  <a:srgbClr val="8FC4F5"/>
                </a:solidFill>
                <a:latin typeface="Calibri"/>
              </a:rPr>
              <a:t>26 câu</a:t>
            </a:r>
            <a:r>
              <a:rPr sz="1000" b="0">
                <a:solidFill>
                  <a:srgbClr val="DCE7F5"/>
                </a:solidFill>
                <a:latin typeface="Calibri"/>
              </a:rPr>
              <a:t>, mức tăng trung bình </a:t>
            </a:r>
            <a:r>
              <a:rPr sz="1000" b="1">
                <a:solidFill>
                  <a:srgbClr val="8FC4F5"/>
                </a:solidFill>
                <a:latin typeface="Calibri"/>
              </a:rPr>
              <a:t>+0,317</a:t>
            </a:r>
            <a:r>
              <a:rPr sz="1000" b="0">
                <a:solidFill>
                  <a:srgbClr val="DCE7F5"/>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Cơ chế, hay chỉ là thêm ngữ cảnh?</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4365" y="1284922"/>
            <a:ext cx="10923270" cy="1676400"/>
          </a:xfrm>
          <a:prstGeom prst="roundRect">
            <a:avLst>
              <a:gd name="adj" fmla="val 7386"/>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2014" y="1475422"/>
            <a:ext cx="2857500" cy="153288"/>
          </a:xfrm>
          <a:prstGeom prst="rect">
            <a:avLst/>
          </a:prstGeom>
          <a:noFill/>
        </p:spPr>
        <p:txBody>
          <a:bodyPr wrap="square" lIns="0" rIns="0" tIns="0" bIns="0" anchor="t">
            <a:spAutoFit/>
          </a:bodyPr>
          <a:lstStyle/>
          <a:p>
            <a:pPr algn="l"/>
            <a:r>
              <a:rPr sz="850" b="1" spc="110">
                <a:solidFill>
                  <a:srgbClr val="5A6B85"/>
                </a:solidFill>
                <a:latin typeface="Calibri"/>
              </a:rPr>
              <a:t>ĐƠN VỊ THÊM VÀO NGỮ CẢNH</a:t>
            </a:r>
          </a:p>
        </p:txBody>
      </p:sp>
      <p:sp>
        <p:nvSpPr>
          <p:cNvPr id="7" name="Rounded Rectangle 6"/>
          <p:cNvSpPr/>
          <p:nvPr/>
        </p:nvSpPr>
        <p:spPr>
          <a:xfrm>
            <a:off x="958215" y="1837372"/>
            <a:ext cx="914400" cy="838200"/>
          </a:xfrm>
          <a:prstGeom prst="roundRect">
            <a:avLst>
              <a:gd name="adj" fmla="val 5681"/>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15" y="1608772"/>
            <a:ext cx="1143000" cy="270510"/>
          </a:xfrm>
          <a:prstGeom prst="rect">
            <a:avLst/>
          </a:prstGeom>
          <a:noFill/>
        </p:spPr>
        <p:txBody>
          <a:bodyPr wrap="square" lIns="0" rIns="0" tIns="0" bIns="0" anchor="t">
            <a:spAutoFit/>
          </a:bodyPr>
          <a:lstStyle/>
          <a:p>
            <a:pPr algn="ctr"/>
            <a:r>
              <a:rPr sz="1500" b="1">
                <a:solidFill>
                  <a:srgbClr val="1554A5"/>
                </a:solidFill>
                <a:latin typeface="Calibri"/>
              </a:rPr>
              <a:t>+3,3</a:t>
            </a:r>
          </a:p>
        </p:txBody>
      </p:sp>
      <p:sp>
        <p:nvSpPr>
          <p:cNvPr id="9" name="TextBox 8"/>
          <p:cNvSpPr txBox="1"/>
          <p:nvPr/>
        </p:nvSpPr>
        <p:spPr>
          <a:xfrm>
            <a:off x="843915" y="2732722"/>
            <a:ext cx="1143000" cy="180339"/>
          </a:xfrm>
          <a:prstGeom prst="rect">
            <a:avLst/>
          </a:prstGeom>
          <a:noFill/>
        </p:spPr>
        <p:txBody>
          <a:bodyPr wrap="square" lIns="0" rIns="0" tIns="0" bIns="0" anchor="t">
            <a:spAutoFit/>
          </a:bodyPr>
          <a:lstStyle/>
          <a:p>
            <a:pPr algn="ctr"/>
            <a:r>
              <a:rPr sz="1000" b="1">
                <a:solidFill>
                  <a:srgbClr val="1E3050"/>
                </a:solidFill>
                <a:latin typeface="Calibri"/>
              </a:rPr>
              <a:t>dẫn chiếu</a:t>
            </a:r>
          </a:p>
        </p:txBody>
      </p:sp>
      <p:sp>
        <p:nvSpPr>
          <p:cNvPr id="10" name="Rounded Rectangle 9"/>
          <p:cNvSpPr/>
          <p:nvPr/>
        </p:nvSpPr>
        <p:spPr>
          <a:xfrm>
            <a:off x="2101215" y="2675572"/>
            <a:ext cx="914400" cy="28575"/>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6915" y="2446972"/>
            <a:ext cx="1143000" cy="234441"/>
          </a:xfrm>
          <a:prstGeom prst="rect">
            <a:avLst/>
          </a:prstGeom>
          <a:noFill/>
        </p:spPr>
        <p:txBody>
          <a:bodyPr wrap="square" lIns="0" rIns="0" tIns="0" bIns="0" anchor="t">
            <a:spAutoFit/>
          </a:bodyPr>
          <a:lstStyle/>
          <a:p>
            <a:pPr algn="ctr"/>
            <a:r>
              <a:rPr sz="1300" b="1">
                <a:solidFill>
                  <a:srgbClr val="5A6B85"/>
                </a:solidFill>
                <a:latin typeface="Calibri"/>
              </a:rPr>
              <a:t>+0,0</a:t>
            </a:r>
          </a:p>
        </p:txBody>
      </p:sp>
      <p:sp>
        <p:nvSpPr>
          <p:cNvPr id="12" name="TextBox 11"/>
          <p:cNvSpPr txBox="1"/>
          <p:nvPr/>
        </p:nvSpPr>
        <p:spPr>
          <a:xfrm>
            <a:off x="1986915" y="2732722"/>
            <a:ext cx="1143000" cy="180339"/>
          </a:xfrm>
          <a:prstGeom prst="rect">
            <a:avLst/>
          </a:prstGeom>
          <a:noFill/>
        </p:spPr>
        <p:txBody>
          <a:bodyPr wrap="square" lIns="0" rIns="0" tIns="0" bIns="0" anchor="t">
            <a:spAutoFit/>
          </a:bodyPr>
          <a:lstStyle/>
          <a:p>
            <a:pPr algn="ctr"/>
            <a:r>
              <a:rPr sz="1000" b="0">
                <a:solidFill>
                  <a:srgbClr val="5A6B85"/>
                </a:solidFill>
                <a:latin typeface="Calibri"/>
              </a:rPr>
              <a:t>cross-encoder</a:t>
            </a:r>
          </a:p>
        </p:txBody>
      </p:sp>
      <p:sp>
        <p:nvSpPr>
          <p:cNvPr id="13" name="Rounded Rectangle 12"/>
          <p:cNvSpPr/>
          <p:nvPr/>
        </p:nvSpPr>
        <p:spPr>
          <a:xfrm>
            <a:off x="3244215" y="2599372"/>
            <a:ext cx="914400" cy="76200"/>
          </a:xfrm>
          <a:prstGeom prst="roundRect">
            <a:avLst>
              <a:gd name="adj" fmla="val 50000"/>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29915" y="2370772"/>
            <a:ext cx="1143000" cy="234441"/>
          </a:xfrm>
          <a:prstGeom prst="rect">
            <a:avLst/>
          </a:prstGeom>
          <a:noFill/>
        </p:spPr>
        <p:txBody>
          <a:bodyPr wrap="square" lIns="0" rIns="0" tIns="0" bIns="0" anchor="t">
            <a:spAutoFit/>
          </a:bodyPr>
          <a:lstStyle/>
          <a:p>
            <a:pPr algn="ctr"/>
            <a:r>
              <a:rPr sz="1300" b="1">
                <a:solidFill>
                  <a:srgbClr val="5A6B85"/>
                </a:solidFill>
                <a:latin typeface="Calibri"/>
              </a:rPr>
              <a:t>+0,3</a:t>
            </a:r>
          </a:p>
        </p:txBody>
      </p:sp>
      <p:sp>
        <p:nvSpPr>
          <p:cNvPr id="15" name="TextBox 14"/>
          <p:cNvSpPr txBox="1"/>
          <p:nvPr/>
        </p:nvSpPr>
        <p:spPr>
          <a:xfrm>
            <a:off x="3129915" y="2732722"/>
            <a:ext cx="1143000" cy="180339"/>
          </a:xfrm>
          <a:prstGeom prst="rect">
            <a:avLst/>
          </a:prstGeom>
          <a:noFill/>
        </p:spPr>
        <p:txBody>
          <a:bodyPr wrap="square" lIns="0" rIns="0" tIns="0" bIns="0" anchor="t">
            <a:spAutoFit/>
          </a:bodyPr>
          <a:lstStyle/>
          <a:p>
            <a:pPr algn="ctr"/>
            <a:r>
              <a:rPr sz="1000" b="0">
                <a:solidFill>
                  <a:srgbClr val="5A6B85"/>
                </a:solidFill>
                <a:latin typeface="Calibri"/>
              </a:rPr>
              <a:t>mở rộng</a:t>
            </a:r>
          </a:p>
        </p:txBody>
      </p:sp>
      <p:sp>
        <p:nvSpPr>
          <p:cNvPr id="16" name="Rectangle 15"/>
          <p:cNvSpPr/>
          <p:nvPr/>
        </p:nvSpPr>
        <p:spPr>
          <a:xfrm>
            <a:off x="882014" y="2675572"/>
            <a:ext cx="3276600" cy="11429"/>
          </a:xfrm>
          <a:prstGeom prst="rect">
            <a:avLst/>
          </a:prstGeom>
          <a:solidFill>
            <a:srgbClr val="D5D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1750" y="1475422"/>
            <a:ext cx="2857500" cy="153288"/>
          </a:xfrm>
          <a:prstGeom prst="rect">
            <a:avLst/>
          </a:prstGeom>
          <a:noFill/>
        </p:spPr>
        <p:txBody>
          <a:bodyPr wrap="square" lIns="0" rIns="0" tIns="0" bIns="0" anchor="t">
            <a:spAutoFit/>
          </a:bodyPr>
          <a:lstStyle/>
          <a:p>
            <a:pPr algn="l"/>
            <a:r>
              <a:rPr sz="850" b="1" spc="110">
                <a:solidFill>
                  <a:srgbClr val="5A6B85"/>
                </a:solidFill>
                <a:latin typeface="Calibri"/>
              </a:rPr>
              <a:t>MỨC TĂNG BAO PHỦ</a:t>
            </a:r>
          </a:p>
        </p:txBody>
      </p:sp>
      <p:sp>
        <p:nvSpPr>
          <p:cNvPr id="18" name="Rounded Rectangle 17"/>
          <p:cNvSpPr/>
          <p:nvPr/>
        </p:nvSpPr>
        <p:spPr>
          <a:xfrm>
            <a:off x="6457950" y="2422530"/>
            <a:ext cx="914400" cy="253041"/>
          </a:xfrm>
          <a:prstGeom prst="roundRect">
            <a:avLst>
              <a:gd name="adj" fmla="val 18821"/>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3650" y="2193930"/>
            <a:ext cx="1143000" cy="234441"/>
          </a:xfrm>
          <a:prstGeom prst="rect">
            <a:avLst/>
          </a:prstGeom>
          <a:noFill/>
        </p:spPr>
        <p:txBody>
          <a:bodyPr wrap="square" lIns="0" rIns="0" tIns="0" bIns="0" anchor="t">
            <a:spAutoFit/>
          </a:bodyPr>
          <a:lstStyle/>
          <a:p>
            <a:pPr algn="ctr"/>
            <a:r>
              <a:rPr sz="1300" b="1">
                <a:solidFill>
                  <a:srgbClr val="5A6B85"/>
                </a:solidFill>
                <a:latin typeface="Calibri"/>
              </a:rPr>
              <a:t>+0,016</a:t>
            </a:r>
          </a:p>
        </p:txBody>
      </p:sp>
      <p:sp>
        <p:nvSpPr>
          <p:cNvPr id="20" name="TextBox 19"/>
          <p:cNvSpPr txBox="1"/>
          <p:nvPr/>
        </p:nvSpPr>
        <p:spPr>
          <a:xfrm>
            <a:off x="6343650" y="2732722"/>
            <a:ext cx="1143000" cy="180339"/>
          </a:xfrm>
          <a:prstGeom prst="rect">
            <a:avLst/>
          </a:prstGeom>
          <a:noFill/>
        </p:spPr>
        <p:txBody>
          <a:bodyPr wrap="square" lIns="0" rIns="0" tIns="0" bIns="0" anchor="t">
            <a:spAutoFit/>
          </a:bodyPr>
          <a:lstStyle/>
          <a:p>
            <a:pPr algn="ctr"/>
            <a:r>
              <a:rPr sz="1000" b="0">
                <a:solidFill>
                  <a:srgbClr val="5A6B85"/>
                </a:solidFill>
                <a:latin typeface="Calibri"/>
              </a:rPr>
              <a:t>dẫn chiếu</a:t>
            </a:r>
          </a:p>
        </p:txBody>
      </p:sp>
      <p:sp>
        <p:nvSpPr>
          <p:cNvPr id="21" name="Rounded Rectangle 20"/>
          <p:cNvSpPr/>
          <p:nvPr/>
        </p:nvSpPr>
        <p:spPr>
          <a:xfrm>
            <a:off x="7600950" y="1932263"/>
            <a:ext cx="914400" cy="743309"/>
          </a:xfrm>
          <a:prstGeom prst="roundRect">
            <a:avLst>
              <a:gd name="adj" fmla="val 6407"/>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6650" y="1703663"/>
            <a:ext cx="1143000" cy="234441"/>
          </a:xfrm>
          <a:prstGeom prst="rect">
            <a:avLst/>
          </a:prstGeom>
          <a:noFill/>
        </p:spPr>
        <p:txBody>
          <a:bodyPr wrap="square" lIns="0" rIns="0" tIns="0" bIns="0" anchor="t">
            <a:spAutoFit/>
          </a:bodyPr>
          <a:lstStyle/>
          <a:p>
            <a:pPr algn="ctr"/>
            <a:r>
              <a:rPr sz="1300" b="1">
                <a:solidFill>
                  <a:srgbClr val="5A6B85"/>
                </a:solidFill>
                <a:latin typeface="Calibri"/>
              </a:rPr>
              <a:t>+0,047</a:t>
            </a:r>
          </a:p>
        </p:txBody>
      </p:sp>
      <p:sp>
        <p:nvSpPr>
          <p:cNvPr id="23" name="TextBox 22"/>
          <p:cNvSpPr txBox="1"/>
          <p:nvPr/>
        </p:nvSpPr>
        <p:spPr>
          <a:xfrm>
            <a:off x="7486650" y="2732722"/>
            <a:ext cx="1143000" cy="180339"/>
          </a:xfrm>
          <a:prstGeom prst="rect">
            <a:avLst/>
          </a:prstGeom>
          <a:noFill/>
        </p:spPr>
        <p:txBody>
          <a:bodyPr wrap="square" lIns="0" rIns="0" tIns="0" bIns="0" anchor="t">
            <a:spAutoFit/>
          </a:bodyPr>
          <a:lstStyle/>
          <a:p>
            <a:pPr algn="ctr"/>
            <a:r>
              <a:rPr sz="1000" b="0">
                <a:solidFill>
                  <a:srgbClr val="5A6B85"/>
                </a:solidFill>
                <a:latin typeface="Calibri"/>
              </a:rPr>
              <a:t>cross-encoder</a:t>
            </a:r>
          </a:p>
        </p:txBody>
      </p:sp>
      <p:sp>
        <p:nvSpPr>
          <p:cNvPr id="24" name="Rounded Rectangle 23"/>
          <p:cNvSpPr/>
          <p:nvPr/>
        </p:nvSpPr>
        <p:spPr>
          <a:xfrm>
            <a:off x="8743950" y="1837372"/>
            <a:ext cx="914400" cy="838200"/>
          </a:xfrm>
          <a:prstGeom prst="roundRect">
            <a:avLst>
              <a:gd name="adj" fmla="val 5681"/>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29650" y="1608772"/>
            <a:ext cx="1143000" cy="270510"/>
          </a:xfrm>
          <a:prstGeom prst="rect">
            <a:avLst/>
          </a:prstGeom>
          <a:noFill/>
        </p:spPr>
        <p:txBody>
          <a:bodyPr wrap="square" lIns="0" rIns="0" tIns="0" bIns="0" anchor="t">
            <a:spAutoFit/>
          </a:bodyPr>
          <a:lstStyle/>
          <a:p>
            <a:pPr algn="ctr"/>
            <a:r>
              <a:rPr sz="1500" b="1">
                <a:solidFill>
                  <a:srgbClr val="1554A5"/>
                </a:solidFill>
                <a:latin typeface="Calibri"/>
              </a:rPr>
              <a:t>+0,053</a:t>
            </a:r>
          </a:p>
        </p:txBody>
      </p:sp>
      <p:sp>
        <p:nvSpPr>
          <p:cNvPr id="26" name="TextBox 25"/>
          <p:cNvSpPr txBox="1"/>
          <p:nvPr/>
        </p:nvSpPr>
        <p:spPr>
          <a:xfrm>
            <a:off x="8629650" y="2732722"/>
            <a:ext cx="1143000" cy="180339"/>
          </a:xfrm>
          <a:prstGeom prst="rect">
            <a:avLst/>
          </a:prstGeom>
          <a:noFill/>
        </p:spPr>
        <p:txBody>
          <a:bodyPr wrap="square" lIns="0" rIns="0" tIns="0" bIns="0" anchor="t">
            <a:spAutoFit/>
          </a:bodyPr>
          <a:lstStyle/>
          <a:p>
            <a:pPr algn="ctr"/>
            <a:r>
              <a:rPr sz="1000" b="1">
                <a:solidFill>
                  <a:srgbClr val="1E3050"/>
                </a:solidFill>
                <a:latin typeface="Calibri"/>
              </a:rPr>
              <a:t>mở rộng</a:t>
            </a:r>
          </a:p>
        </p:txBody>
      </p:sp>
      <p:sp>
        <p:nvSpPr>
          <p:cNvPr id="27" name="Rectangle 26"/>
          <p:cNvSpPr/>
          <p:nvPr/>
        </p:nvSpPr>
        <p:spPr>
          <a:xfrm>
            <a:off x="6381750" y="2675572"/>
            <a:ext cx="3276600" cy="11429"/>
          </a:xfrm>
          <a:prstGeom prst="rect">
            <a:avLst/>
          </a:prstGeom>
          <a:solidFill>
            <a:srgbClr val="D5D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57900" y="1418272"/>
            <a:ext cx="11429" cy="1428750"/>
          </a:xfrm>
          <a:prstGeom prst="rect">
            <a:avLst/>
          </a:prstGeom>
          <a:solidFill>
            <a:srgbClr val="D5D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4365" y="3113722"/>
            <a:ext cx="10923270" cy="438150"/>
          </a:xfrm>
          <a:prstGeom prst="roundRect">
            <a:avLst>
              <a:gd name="adj" fmla="val 21739"/>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915" y="3237547"/>
            <a:ext cx="10504169" cy="209550"/>
          </a:xfrm>
          <a:prstGeom prst="rect">
            <a:avLst/>
          </a:prstGeom>
          <a:noFill/>
        </p:spPr>
        <p:txBody>
          <a:bodyPr wrap="square" lIns="0" rIns="0" tIns="0" bIns="0" anchor="t">
            <a:spAutoFit/>
          </a:bodyPr>
          <a:lstStyle/>
          <a:p>
            <a:pPr algn="l"/>
            <a:r>
              <a:rPr sz="1150" b="0">
                <a:solidFill>
                  <a:srgbClr val="DCE7F5"/>
                </a:solidFill>
                <a:latin typeface="Calibri"/>
              </a:rPr>
              <a:t>Bước đóng góp </a:t>
            </a:r>
            <a:r>
              <a:rPr sz="1150" b="1">
                <a:solidFill>
                  <a:srgbClr val="8FC4F5"/>
                </a:solidFill>
                <a:latin typeface="Calibri"/>
              </a:rPr>
              <a:t>lớn nhất</a:t>
            </a:r>
            <a:r>
              <a:rPr sz="1150" b="0">
                <a:solidFill>
                  <a:srgbClr val="DCE7F5"/>
                </a:solidFill>
                <a:latin typeface="Calibri"/>
              </a:rPr>
              <a:t> là bước </a:t>
            </a:r>
            <a:r>
              <a:rPr sz="1150" b="1">
                <a:solidFill>
                  <a:srgbClr val="8FC4F5"/>
                </a:solidFill>
                <a:latin typeface="Calibri"/>
              </a:rPr>
              <a:t>không thêm một đơn vị nào</a:t>
            </a:r>
            <a:r>
              <a:rPr sz="1150" b="0">
                <a:solidFill>
                  <a:srgbClr val="DCE7F5"/>
                </a:solidFill>
                <a:latin typeface="Calibri"/>
              </a:rPr>
              <a:t> — cross-encoder chỉ xếp lại thứ tự các đơn vị đã chọn.</a:t>
            </a:r>
          </a:p>
        </p:txBody>
      </p:sp>
      <p:sp>
        <p:nvSpPr>
          <p:cNvPr id="31" name="TextBox 30"/>
          <p:cNvSpPr txBox="1"/>
          <p:nvPr/>
        </p:nvSpPr>
        <p:spPr>
          <a:xfrm>
            <a:off x="634365" y="3761422"/>
            <a:ext cx="5652134" cy="153288"/>
          </a:xfrm>
          <a:prstGeom prst="rect">
            <a:avLst/>
          </a:prstGeom>
          <a:noFill/>
        </p:spPr>
        <p:txBody>
          <a:bodyPr wrap="square" lIns="0" rIns="0" tIns="0" bIns="0" anchor="t">
            <a:spAutoFit/>
          </a:bodyPr>
          <a:lstStyle/>
          <a:p>
            <a:pPr algn="l"/>
            <a:r>
              <a:rPr sz="850" b="1" spc="110">
                <a:solidFill>
                  <a:srgbClr val="5A6B85"/>
                </a:solidFill>
                <a:latin typeface="Calibri"/>
              </a:rPr>
              <a:t>NHÁNH ĐỐI CHỨNG CHO BƯỚC THẬT SỰ NẠP THÊM — THÊM ĐÚNG BẰNG SỐ ĐƠN VỊ ĐÓ,</a:t>
            </a:r>
          </a:p>
        </p:txBody>
      </p:sp>
      <p:sp>
        <p:nvSpPr>
          <p:cNvPr id="32" name="TextBox 31"/>
          <p:cNvSpPr txBox="1"/>
          <p:nvPr/>
        </p:nvSpPr>
        <p:spPr>
          <a:xfrm>
            <a:off x="634365" y="3904297"/>
            <a:ext cx="5652134" cy="153288"/>
          </a:xfrm>
          <a:prstGeom prst="rect">
            <a:avLst/>
          </a:prstGeom>
          <a:noFill/>
        </p:spPr>
        <p:txBody>
          <a:bodyPr wrap="square" lIns="0" rIns="0" tIns="0" bIns="0" anchor="t">
            <a:spAutoFit/>
          </a:bodyPr>
          <a:lstStyle/>
          <a:p>
            <a:pPr algn="l"/>
            <a:r>
              <a:rPr sz="850" b="1" spc="110">
                <a:solidFill>
                  <a:srgbClr val="5A6B85"/>
                </a:solidFill>
                <a:latin typeface="Calibri"/>
              </a:rPr>
              <a:t>NHƯNG CHỌN THEO ĐIỂM XẾP HẠNG</a:t>
            </a:r>
          </a:p>
        </p:txBody>
      </p:sp>
      <p:sp>
        <p:nvSpPr>
          <p:cNvPr id="33" name="TextBox 32"/>
          <p:cNvSpPr txBox="1"/>
          <p:nvPr/>
        </p:nvSpPr>
        <p:spPr>
          <a:xfrm>
            <a:off x="634365" y="4147185"/>
            <a:ext cx="2329472" cy="198373"/>
          </a:xfrm>
          <a:prstGeom prst="rect">
            <a:avLst/>
          </a:prstGeom>
          <a:noFill/>
        </p:spPr>
        <p:txBody>
          <a:bodyPr wrap="square" lIns="0" rIns="0" tIns="0" bIns="0" anchor="ctr">
            <a:spAutoFit/>
          </a:bodyPr>
          <a:lstStyle/>
          <a:p>
            <a:pPr algn="l"/>
            <a:r>
              <a:rPr sz="1100" b="0">
                <a:solidFill>
                  <a:srgbClr val="1E3050"/>
                </a:solidFill>
                <a:latin typeface="Calibri"/>
              </a:rPr>
              <a:t>Không thêm</a:t>
            </a:r>
          </a:p>
        </p:txBody>
      </p:sp>
      <p:sp>
        <p:nvSpPr>
          <p:cNvPr id="34" name="Rounded Rectangle 33"/>
          <p:cNvSpPr/>
          <p:nvPr/>
        </p:nvSpPr>
        <p:spPr>
          <a:xfrm>
            <a:off x="3059087" y="4161472"/>
            <a:ext cx="1985276" cy="123824"/>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059087" y="4161472"/>
            <a:ext cx="1510795" cy="123824"/>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58663" y="4147185"/>
            <a:ext cx="632536" cy="216408"/>
          </a:xfrm>
          <a:prstGeom prst="rect">
            <a:avLst/>
          </a:prstGeom>
          <a:noFill/>
        </p:spPr>
        <p:txBody>
          <a:bodyPr wrap="square" lIns="0" rIns="0" tIns="0" bIns="0" anchor="ctr">
            <a:spAutoFit/>
          </a:bodyPr>
          <a:lstStyle/>
          <a:p>
            <a:pPr algn="r"/>
            <a:r>
              <a:rPr sz="1200" b="1">
                <a:solidFill>
                  <a:srgbClr val="1E3050"/>
                </a:solidFill>
                <a:latin typeface="Calibri"/>
              </a:rPr>
              <a:t>0,761</a:t>
            </a:r>
          </a:p>
        </p:txBody>
      </p:sp>
      <p:sp>
        <p:nvSpPr>
          <p:cNvPr id="37" name="TextBox 36"/>
          <p:cNvSpPr txBox="1"/>
          <p:nvPr/>
        </p:nvSpPr>
        <p:spPr>
          <a:xfrm>
            <a:off x="634365" y="4404360"/>
            <a:ext cx="2329472" cy="198373"/>
          </a:xfrm>
          <a:prstGeom prst="rect">
            <a:avLst/>
          </a:prstGeom>
          <a:noFill/>
        </p:spPr>
        <p:txBody>
          <a:bodyPr wrap="square" lIns="0" rIns="0" tIns="0" bIns="0" anchor="ctr">
            <a:spAutoFit/>
          </a:bodyPr>
          <a:lstStyle/>
          <a:p>
            <a:pPr algn="l"/>
            <a:r>
              <a:rPr sz="1100" b="0">
                <a:solidFill>
                  <a:srgbClr val="1E3050"/>
                </a:solidFill>
                <a:latin typeface="Calibri"/>
              </a:rPr>
              <a:t>Theo điểm xếp hạng</a:t>
            </a:r>
            <a:r>
              <a:rPr sz="1100" b="0">
                <a:solidFill>
                  <a:srgbClr val="5A6B85"/>
                </a:solidFill>
                <a:latin typeface="Calibri"/>
              </a:rPr>
              <a:t> · đối chứng</a:t>
            </a:r>
          </a:p>
        </p:txBody>
      </p:sp>
      <p:sp>
        <p:nvSpPr>
          <p:cNvPr id="38" name="Rounded Rectangle 37"/>
          <p:cNvSpPr/>
          <p:nvPr/>
        </p:nvSpPr>
        <p:spPr>
          <a:xfrm>
            <a:off x="3059087" y="4418647"/>
            <a:ext cx="1985276" cy="123824"/>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059087" y="4418647"/>
            <a:ext cx="1510795" cy="123824"/>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569882" y="4418647"/>
            <a:ext cx="27793" cy="123824"/>
          </a:xfrm>
          <a:prstGeom prst="roundRect">
            <a:avLst>
              <a:gd name="adj" fmla="val 50000"/>
            </a:avLst>
          </a:prstGeom>
          <a:solidFill>
            <a:srgbClr val="1B7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58663" y="4404360"/>
            <a:ext cx="632536" cy="216408"/>
          </a:xfrm>
          <a:prstGeom prst="rect">
            <a:avLst/>
          </a:prstGeom>
          <a:noFill/>
        </p:spPr>
        <p:txBody>
          <a:bodyPr wrap="square" lIns="0" rIns="0" tIns="0" bIns="0" anchor="ctr">
            <a:spAutoFit/>
          </a:bodyPr>
          <a:lstStyle/>
          <a:p>
            <a:pPr algn="r"/>
            <a:r>
              <a:rPr sz="1200" b="1">
                <a:solidFill>
                  <a:srgbClr val="1B7FD9"/>
                </a:solidFill>
                <a:latin typeface="Calibri"/>
              </a:rPr>
              <a:t>0,775</a:t>
            </a:r>
          </a:p>
        </p:txBody>
      </p:sp>
      <p:sp>
        <p:nvSpPr>
          <p:cNvPr id="42" name="TextBox 41"/>
          <p:cNvSpPr txBox="1"/>
          <p:nvPr/>
        </p:nvSpPr>
        <p:spPr>
          <a:xfrm>
            <a:off x="634365" y="4661535"/>
            <a:ext cx="2329472" cy="198373"/>
          </a:xfrm>
          <a:prstGeom prst="rect">
            <a:avLst/>
          </a:prstGeom>
          <a:noFill/>
        </p:spPr>
        <p:txBody>
          <a:bodyPr wrap="square" lIns="0" rIns="0" tIns="0" bIns="0" anchor="ctr">
            <a:spAutoFit/>
          </a:bodyPr>
          <a:lstStyle/>
          <a:p>
            <a:pPr algn="l"/>
            <a:r>
              <a:rPr sz="1100" b="1">
                <a:solidFill>
                  <a:srgbClr val="1E3050"/>
                </a:solidFill>
                <a:latin typeface="Calibri"/>
              </a:rPr>
              <a:t>Theo quan hệ dẫn chiếu</a:t>
            </a:r>
          </a:p>
        </p:txBody>
      </p:sp>
      <p:sp>
        <p:nvSpPr>
          <p:cNvPr id="43" name="Rounded Rectangle 42"/>
          <p:cNvSpPr/>
          <p:nvPr/>
        </p:nvSpPr>
        <p:spPr>
          <a:xfrm>
            <a:off x="3059087" y="4675822"/>
            <a:ext cx="1985276" cy="123824"/>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059087" y="4675822"/>
            <a:ext cx="1510795" cy="123824"/>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569882" y="4675822"/>
            <a:ext cx="71469" cy="123824"/>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58663" y="4661535"/>
            <a:ext cx="632536" cy="216408"/>
          </a:xfrm>
          <a:prstGeom prst="rect">
            <a:avLst/>
          </a:prstGeom>
          <a:noFill/>
        </p:spPr>
        <p:txBody>
          <a:bodyPr wrap="square" lIns="0" rIns="0" tIns="0" bIns="0" anchor="ctr">
            <a:spAutoFit/>
          </a:bodyPr>
          <a:lstStyle/>
          <a:p>
            <a:pPr algn="r"/>
            <a:r>
              <a:rPr sz="1200" b="1">
                <a:solidFill>
                  <a:srgbClr val="1554A5"/>
                </a:solidFill>
                <a:latin typeface="Calibri"/>
              </a:rPr>
              <a:t>0,797</a:t>
            </a:r>
          </a:p>
        </p:txBody>
      </p:sp>
      <p:sp>
        <p:nvSpPr>
          <p:cNvPr id="47" name="Rounded Rectangle 46"/>
          <p:cNvSpPr/>
          <p:nvPr/>
        </p:nvSpPr>
        <p:spPr>
          <a:xfrm>
            <a:off x="634365" y="4952047"/>
            <a:ext cx="104775" cy="76200"/>
          </a:xfrm>
          <a:prstGeom prst="roundRect">
            <a:avLst>
              <a:gd name="adj" fmla="val 25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765" y="4923472"/>
            <a:ext cx="1238250" cy="153288"/>
          </a:xfrm>
          <a:prstGeom prst="rect">
            <a:avLst/>
          </a:prstGeom>
          <a:noFill/>
        </p:spPr>
        <p:txBody>
          <a:bodyPr wrap="square" lIns="0" rIns="0" tIns="0" bIns="0" anchor="t">
            <a:spAutoFit/>
          </a:bodyPr>
          <a:lstStyle/>
          <a:p>
            <a:pPr algn="l"/>
            <a:r>
              <a:rPr sz="850" b="0">
                <a:solidFill>
                  <a:srgbClr val="5A6B85"/>
                </a:solidFill>
                <a:latin typeface="Calibri"/>
              </a:rPr>
              <a:t>mức nền chung</a:t>
            </a:r>
          </a:p>
        </p:txBody>
      </p:sp>
      <p:sp>
        <p:nvSpPr>
          <p:cNvPr id="49" name="Rounded Rectangle 48"/>
          <p:cNvSpPr/>
          <p:nvPr/>
        </p:nvSpPr>
        <p:spPr>
          <a:xfrm>
            <a:off x="1394459" y="4952047"/>
            <a:ext cx="104775" cy="76200"/>
          </a:xfrm>
          <a:prstGeom prst="roundRect">
            <a:avLst>
              <a:gd name="adj" fmla="val 25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46859" y="4923472"/>
            <a:ext cx="1238250" cy="153288"/>
          </a:xfrm>
          <a:prstGeom prst="rect">
            <a:avLst/>
          </a:prstGeom>
          <a:noFill/>
        </p:spPr>
        <p:txBody>
          <a:bodyPr wrap="square" lIns="0" rIns="0" tIns="0" bIns="0" anchor="t">
            <a:spAutoFit/>
          </a:bodyPr>
          <a:lstStyle/>
          <a:p>
            <a:pPr algn="l"/>
            <a:r>
              <a:rPr sz="850" b="0">
                <a:solidFill>
                  <a:srgbClr val="5A6B85"/>
                </a:solidFill>
                <a:latin typeface="Calibri"/>
              </a:rPr>
              <a:t>phần tăng thêm</a:t>
            </a:r>
          </a:p>
        </p:txBody>
      </p:sp>
      <p:sp>
        <p:nvSpPr>
          <p:cNvPr id="51" name="Rounded Rectangle 50"/>
          <p:cNvSpPr/>
          <p:nvPr/>
        </p:nvSpPr>
        <p:spPr>
          <a:xfrm>
            <a:off x="6286500" y="4047172"/>
            <a:ext cx="5271135" cy="1104900"/>
          </a:xfrm>
          <a:prstGeom prst="roundRect">
            <a:avLst>
              <a:gd name="adj" fmla="val 862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6050" y="4237672"/>
            <a:ext cx="4852034" cy="762000"/>
          </a:xfrm>
          <a:prstGeom prst="rect">
            <a:avLst/>
          </a:prstGeom>
          <a:noFill/>
        </p:spPr>
        <p:txBody>
          <a:bodyPr wrap="square" lIns="0" rIns="0" tIns="0" bIns="0" anchor="t">
            <a:spAutoFit/>
          </a:bodyPr>
          <a:lstStyle/>
          <a:p>
            <a:pPr algn="l">
              <a:lnSpc>
                <a:spcPct val="140000"/>
              </a:lnSpc>
            </a:pPr>
            <a:r>
              <a:rPr sz="1150" b="0">
                <a:solidFill>
                  <a:srgbClr val="2C4A72"/>
                </a:solidFill>
                <a:latin typeface="Calibri"/>
              </a:rPr>
              <a:t>Cùng lượng ngữ cảnh, chọn theo dẫn chiếu hơn chọn theo điểm xếp hạng </a:t>
            </a:r>
            <a:r>
              <a:rPr sz="1150" b="1">
                <a:solidFill>
                  <a:srgbClr val="1554A5"/>
                </a:solidFill>
                <a:latin typeface="Calibri"/>
              </a:rPr>
              <a:t>+0,023</a:t>
            </a:r>
            <a:r>
              <a:rPr sz="1150" b="0">
                <a:solidFill>
                  <a:srgbClr val="2C4A72"/>
                </a:solidFill>
                <a:latin typeface="Calibri"/>
              </a:rPr>
              <a:t>.</a:t>
            </a:r>
          </a:p>
          <a:p>
            <a:pPr algn="l">
              <a:lnSpc>
                <a:spcPct val="140000"/>
              </a:lnSpc>
            </a:pPr>
            <a:r>
              <a:rPr sz="600" b="0">
                <a:solidFill>
                  <a:srgbClr val="2C4A72"/>
                </a:solidFill>
                <a:latin typeface="Calibri"/>
              </a:rPr>
              <a:t/>
            </a:r>
          </a:p>
          <a:p>
            <a:pPr algn="l">
              <a:lnSpc>
                <a:spcPct val="140000"/>
              </a:lnSpc>
            </a:pPr>
            <a:r>
              <a:rPr sz="1150" b="0">
                <a:solidFill>
                  <a:srgbClr val="2C4A72"/>
                </a:solidFill>
                <a:latin typeface="Calibri"/>
              </a:rPr>
              <a:t>Phần chênh này là đóng góp của </a:t>
            </a:r>
            <a:r>
              <a:rPr sz="1150" b="1">
                <a:solidFill>
                  <a:srgbClr val="1E3050"/>
                </a:solidFill>
                <a:latin typeface="Calibri"/>
              </a:rPr>
              <a:t>cơ chế</a:t>
            </a:r>
            <a:r>
              <a:rPr sz="1150" b="0">
                <a:solidFill>
                  <a:srgbClr val="2C4A72"/>
                </a:solidFill>
                <a:latin typeface="Calibri"/>
              </a:rPr>
              <a:t>, không phải của lượng chữ.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Tổng quát hóa sang lĩnh vực mới</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365" y="1284922"/>
            <a:ext cx="9830942" cy="381000"/>
          </a:xfrm>
          <a:prstGeom prst="rect">
            <a:avLst/>
          </a:prstGeom>
          <a:noFill/>
        </p:spPr>
        <p:txBody>
          <a:bodyPr wrap="square" lIns="0" rIns="0" tIns="0" bIns="0" anchor="t">
            <a:spAutoFit/>
          </a:bodyPr>
          <a:lstStyle/>
          <a:p>
            <a:pPr algn="l">
              <a:lnSpc>
                <a:spcPct val="140000"/>
              </a:lnSpc>
            </a:pPr>
            <a:r>
              <a:rPr sz="1150" b="0">
                <a:solidFill>
                  <a:srgbClr val="5A6B85"/>
                </a:solidFill>
                <a:latin typeface="Calibri"/>
              </a:rPr>
              <a:t>Thêm pháp luật </a:t>
            </a:r>
            <a:r>
              <a:rPr sz="1150" b="1">
                <a:solidFill>
                  <a:srgbClr val="1E3050"/>
                </a:solidFill>
                <a:latin typeface="Calibri"/>
              </a:rPr>
              <a:t>lao động</a:t>
            </a:r>
            <a:r>
              <a:rPr sz="1150" b="0">
                <a:solidFill>
                  <a:srgbClr val="5A6B85"/>
                </a:solidFill>
                <a:latin typeface="Calibri"/>
              </a:rPr>
              <a:t> — lĩnh vực chưa từng được xây dựng cho. Bộ trích xuất viết cho đất đai chạy trên văn bản lao động mà không phải sửa dòng nào.</a:t>
            </a:r>
          </a:p>
        </p:txBody>
      </p:sp>
      <p:sp>
        <p:nvSpPr>
          <p:cNvPr id="6" name="Rounded Rectangle 5"/>
          <p:cNvSpPr/>
          <p:nvPr/>
        </p:nvSpPr>
        <p:spPr>
          <a:xfrm>
            <a:off x="634365" y="1799272"/>
            <a:ext cx="2616517" cy="704850"/>
          </a:xfrm>
          <a:prstGeom prst="roundRect">
            <a:avLst>
              <a:gd name="adj" fmla="val 13513"/>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5815" y="1951672"/>
            <a:ext cx="2273617" cy="396747"/>
          </a:xfrm>
          <a:prstGeom prst="rect">
            <a:avLst/>
          </a:prstGeom>
          <a:noFill/>
        </p:spPr>
        <p:txBody>
          <a:bodyPr wrap="square" lIns="0" rIns="0" tIns="0" bIns="0" anchor="t">
            <a:spAutoFit/>
          </a:bodyPr>
          <a:lstStyle/>
          <a:p>
            <a:pPr algn="l"/>
            <a:r>
              <a:rPr sz="2200" b="1">
                <a:solidFill>
                  <a:srgbClr val="1E3050"/>
                </a:solidFill>
                <a:latin typeface="Calibri"/>
              </a:rPr>
              <a:t>32 → 36</a:t>
            </a:r>
          </a:p>
        </p:txBody>
      </p:sp>
      <p:sp>
        <p:nvSpPr>
          <p:cNvPr id="8" name="TextBox 7"/>
          <p:cNvSpPr txBox="1"/>
          <p:nvPr/>
        </p:nvSpPr>
        <p:spPr>
          <a:xfrm>
            <a:off x="805815" y="2256472"/>
            <a:ext cx="2273617" cy="153288"/>
          </a:xfrm>
          <a:prstGeom prst="rect">
            <a:avLst/>
          </a:prstGeom>
          <a:noFill/>
        </p:spPr>
        <p:txBody>
          <a:bodyPr wrap="square" lIns="0" rIns="0" tIns="0" bIns="0" anchor="t">
            <a:spAutoFit/>
          </a:bodyPr>
          <a:lstStyle/>
          <a:p>
            <a:pPr algn="l"/>
            <a:r>
              <a:rPr sz="850" b="0">
                <a:solidFill>
                  <a:srgbClr val="5A6B85"/>
                </a:solidFill>
                <a:latin typeface="Calibri"/>
              </a:rPr>
              <a:t>văn bản</a:t>
            </a:r>
          </a:p>
        </p:txBody>
      </p:sp>
      <p:sp>
        <p:nvSpPr>
          <p:cNvPr id="9" name="Rounded Rectangle 8"/>
          <p:cNvSpPr/>
          <p:nvPr/>
        </p:nvSpPr>
        <p:spPr>
          <a:xfrm>
            <a:off x="3403282" y="1799272"/>
            <a:ext cx="2616517" cy="704850"/>
          </a:xfrm>
          <a:prstGeom prst="roundRect">
            <a:avLst>
              <a:gd name="adj" fmla="val 13513"/>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4732" y="1951672"/>
            <a:ext cx="2273617" cy="396747"/>
          </a:xfrm>
          <a:prstGeom prst="rect">
            <a:avLst/>
          </a:prstGeom>
          <a:noFill/>
        </p:spPr>
        <p:txBody>
          <a:bodyPr wrap="square" lIns="0" rIns="0" tIns="0" bIns="0" anchor="t">
            <a:spAutoFit/>
          </a:bodyPr>
          <a:lstStyle/>
          <a:p>
            <a:pPr algn="l"/>
            <a:r>
              <a:rPr sz="2200" b="1">
                <a:solidFill>
                  <a:srgbClr val="1E3050"/>
                </a:solidFill>
                <a:latin typeface="Calibri"/>
              </a:rPr>
              <a:t>3 → 4</a:t>
            </a:r>
          </a:p>
        </p:txBody>
      </p:sp>
      <p:sp>
        <p:nvSpPr>
          <p:cNvPr id="11" name="TextBox 10"/>
          <p:cNvSpPr txBox="1"/>
          <p:nvPr/>
        </p:nvSpPr>
        <p:spPr>
          <a:xfrm>
            <a:off x="3574732" y="2256472"/>
            <a:ext cx="2273617" cy="153288"/>
          </a:xfrm>
          <a:prstGeom prst="rect">
            <a:avLst/>
          </a:prstGeom>
          <a:noFill/>
        </p:spPr>
        <p:txBody>
          <a:bodyPr wrap="square" lIns="0" rIns="0" tIns="0" bIns="0" anchor="t">
            <a:spAutoFit/>
          </a:bodyPr>
          <a:lstStyle/>
          <a:p>
            <a:pPr algn="l"/>
            <a:r>
              <a:rPr sz="850" b="0">
                <a:solidFill>
                  <a:srgbClr val="5A6B85"/>
                </a:solidFill>
                <a:latin typeface="Calibri"/>
              </a:rPr>
              <a:t>lĩnh vực</a:t>
            </a:r>
          </a:p>
        </p:txBody>
      </p:sp>
      <p:sp>
        <p:nvSpPr>
          <p:cNvPr id="12" name="Rounded Rectangle 11"/>
          <p:cNvSpPr/>
          <p:nvPr/>
        </p:nvSpPr>
        <p:spPr>
          <a:xfrm>
            <a:off x="6172200" y="1799272"/>
            <a:ext cx="2616517" cy="704850"/>
          </a:xfrm>
          <a:prstGeom prst="roundRect">
            <a:avLst>
              <a:gd name="adj" fmla="val 13513"/>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3650" y="1951672"/>
            <a:ext cx="2273617" cy="324612"/>
          </a:xfrm>
          <a:prstGeom prst="rect">
            <a:avLst/>
          </a:prstGeom>
          <a:noFill/>
        </p:spPr>
        <p:txBody>
          <a:bodyPr wrap="square" lIns="0" rIns="0" tIns="0" bIns="0" anchor="t">
            <a:spAutoFit/>
          </a:bodyPr>
          <a:lstStyle/>
          <a:p>
            <a:pPr algn="l"/>
            <a:r>
              <a:rPr sz="1800" b="1">
                <a:solidFill>
                  <a:srgbClr val="1E3050"/>
                </a:solidFill>
                <a:latin typeface="Calibri"/>
              </a:rPr>
              <a:t>4.549 → 7.208</a:t>
            </a:r>
          </a:p>
        </p:txBody>
      </p:sp>
      <p:sp>
        <p:nvSpPr>
          <p:cNvPr id="14" name="TextBox 13"/>
          <p:cNvSpPr txBox="1"/>
          <p:nvPr/>
        </p:nvSpPr>
        <p:spPr>
          <a:xfrm>
            <a:off x="6343650" y="2256472"/>
            <a:ext cx="2273617" cy="153288"/>
          </a:xfrm>
          <a:prstGeom prst="rect">
            <a:avLst/>
          </a:prstGeom>
          <a:noFill/>
        </p:spPr>
        <p:txBody>
          <a:bodyPr wrap="square" lIns="0" rIns="0" tIns="0" bIns="0" anchor="t">
            <a:spAutoFit/>
          </a:bodyPr>
          <a:lstStyle/>
          <a:p>
            <a:pPr algn="l"/>
            <a:r>
              <a:rPr sz="850" b="0">
                <a:solidFill>
                  <a:srgbClr val="5A6B85"/>
                </a:solidFill>
                <a:latin typeface="Calibri"/>
              </a:rPr>
              <a:t>điều khoản</a:t>
            </a:r>
          </a:p>
        </p:txBody>
      </p:sp>
      <p:sp>
        <p:nvSpPr>
          <p:cNvPr id="15" name="Rounded Rectangle 14"/>
          <p:cNvSpPr/>
          <p:nvPr/>
        </p:nvSpPr>
        <p:spPr>
          <a:xfrm>
            <a:off x="8941117" y="1799272"/>
            <a:ext cx="2616517" cy="704850"/>
          </a:xfrm>
          <a:prstGeom prst="roundRect">
            <a:avLst>
              <a:gd name="adj" fmla="val 13513"/>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2567" y="1951672"/>
            <a:ext cx="2273617" cy="396747"/>
          </a:xfrm>
          <a:prstGeom prst="rect">
            <a:avLst/>
          </a:prstGeom>
          <a:noFill/>
        </p:spPr>
        <p:txBody>
          <a:bodyPr wrap="square" lIns="0" rIns="0" tIns="0" bIns="0" anchor="t">
            <a:spAutoFit/>
          </a:bodyPr>
          <a:lstStyle/>
          <a:p>
            <a:pPr algn="l"/>
            <a:r>
              <a:rPr sz="2200" b="1">
                <a:solidFill>
                  <a:srgbClr val="1E3050"/>
                </a:solidFill>
                <a:latin typeface="Calibri"/>
              </a:rPr>
              <a:t>1.447</a:t>
            </a:r>
          </a:p>
        </p:txBody>
      </p:sp>
      <p:sp>
        <p:nvSpPr>
          <p:cNvPr id="17" name="TextBox 16"/>
          <p:cNvSpPr txBox="1"/>
          <p:nvPr/>
        </p:nvSpPr>
        <p:spPr>
          <a:xfrm>
            <a:off x="9112567" y="2256472"/>
            <a:ext cx="2273617" cy="153288"/>
          </a:xfrm>
          <a:prstGeom prst="rect">
            <a:avLst/>
          </a:prstGeom>
          <a:noFill/>
        </p:spPr>
        <p:txBody>
          <a:bodyPr wrap="square" lIns="0" rIns="0" tIns="0" bIns="0" anchor="t">
            <a:spAutoFit/>
          </a:bodyPr>
          <a:lstStyle/>
          <a:p>
            <a:pPr algn="l"/>
            <a:r>
              <a:rPr sz="850" b="0">
                <a:solidFill>
                  <a:srgbClr val="5A6B85"/>
                </a:solidFill>
                <a:latin typeface="Calibri"/>
              </a:rPr>
              <a:t>quan hệ dẫn chiếu tạo tự động</a:t>
            </a:r>
          </a:p>
        </p:txBody>
      </p:sp>
      <p:sp>
        <p:nvSpPr>
          <p:cNvPr id="18" name="Rounded Rectangle 17"/>
          <p:cNvSpPr/>
          <p:nvPr/>
        </p:nvSpPr>
        <p:spPr>
          <a:xfrm>
            <a:off x="634365" y="2713672"/>
            <a:ext cx="5271135" cy="3583305"/>
          </a:xfrm>
          <a:prstGeom prst="roundRect">
            <a:avLst>
              <a:gd name="adj" fmla="val 3455"/>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365" y="2999422"/>
            <a:ext cx="5271135" cy="153288"/>
          </a:xfrm>
          <a:prstGeom prst="rect">
            <a:avLst/>
          </a:prstGeom>
          <a:noFill/>
        </p:spPr>
        <p:txBody>
          <a:bodyPr wrap="square" lIns="0" rIns="0" tIns="0" bIns="0" anchor="t">
            <a:spAutoFit/>
          </a:bodyPr>
          <a:lstStyle/>
          <a:p>
            <a:pPr algn="l"/>
            <a:r>
              <a:rPr sz="850" b="1" spc="110">
                <a:solidFill>
                  <a:srgbClr val="5A6B85"/>
                </a:solidFill>
                <a:latin typeface="Calibri"/>
              </a:rPr>
              <a:t>CÓ LÀM HỎNG BA LĨNH VỰC CŨ KHÔNG?</a:t>
            </a:r>
          </a:p>
        </p:txBody>
      </p:sp>
      <p:sp>
        <p:nvSpPr>
          <p:cNvPr id="20" name="TextBox 19"/>
          <p:cNvSpPr txBox="1"/>
          <p:nvPr/>
        </p:nvSpPr>
        <p:spPr>
          <a:xfrm>
            <a:off x="634365" y="3208972"/>
            <a:ext cx="5271135" cy="1190243"/>
          </a:xfrm>
          <a:prstGeom prst="rect">
            <a:avLst/>
          </a:prstGeom>
          <a:noFill/>
        </p:spPr>
        <p:txBody>
          <a:bodyPr wrap="square" lIns="0" rIns="0" tIns="0" bIns="0" anchor="t">
            <a:spAutoFit/>
          </a:bodyPr>
          <a:lstStyle/>
          <a:p>
            <a:pPr algn="ctr"/>
            <a:r>
              <a:rPr sz="6600" b="1">
                <a:solidFill>
                  <a:srgbClr val="1554A5"/>
                </a:solidFill>
                <a:latin typeface="Calibri"/>
              </a:rPr>
              <a:t>0</a:t>
            </a:r>
          </a:p>
        </p:txBody>
      </p:sp>
      <p:sp>
        <p:nvSpPr>
          <p:cNvPr id="21" name="TextBox 20"/>
          <p:cNvSpPr txBox="1"/>
          <p:nvPr/>
        </p:nvSpPr>
        <p:spPr>
          <a:xfrm>
            <a:off x="634365" y="3970972"/>
            <a:ext cx="5271135" cy="252475"/>
          </a:xfrm>
          <a:prstGeom prst="rect">
            <a:avLst/>
          </a:prstGeom>
          <a:noFill/>
        </p:spPr>
        <p:txBody>
          <a:bodyPr wrap="square" lIns="0" rIns="0" tIns="0" bIns="0" anchor="t">
            <a:spAutoFit/>
          </a:bodyPr>
          <a:lstStyle/>
          <a:p>
            <a:pPr algn="ctr"/>
            <a:r>
              <a:rPr sz="1400" b="1">
                <a:solidFill>
                  <a:srgbClr val="1E3050"/>
                </a:solidFill>
                <a:latin typeface="Calibri"/>
              </a:rPr>
              <a:t>câu lệch</a:t>
            </a:r>
          </a:p>
        </p:txBody>
      </p:sp>
      <p:sp>
        <p:nvSpPr>
          <p:cNvPr id="22" name="TextBox 21"/>
          <p:cNvSpPr txBox="1"/>
          <p:nvPr/>
        </p:nvSpPr>
        <p:spPr>
          <a:xfrm>
            <a:off x="1205864" y="4275772"/>
            <a:ext cx="4128135" cy="457200"/>
          </a:xfrm>
          <a:prstGeom prst="rect">
            <a:avLst/>
          </a:prstGeom>
          <a:noFill/>
        </p:spPr>
        <p:txBody>
          <a:bodyPr wrap="square" lIns="0" rIns="0" tIns="0" bIns="0" anchor="t">
            <a:spAutoFit/>
          </a:bodyPr>
          <a:lstStyle/>
          <a:p>
            <a:pPr algn="ctr">
              <a:lnSpc>
                <a:spcPct val="135000"/>
              </a:lnSpc>
            </a:pPr>
            <a:r>
              <a:rPr sz="1000" b="0">
                <a:solidFill>
                  <a:srgbClr val="5A6B85"/>
                </a:solidFill>
                <a:latin typeface="Calibri"/>
              </a:rPr>
              <a:t>Chạy lại đúng </a:t>
            </a:r>
            <a:r>
              <a:rPr sz="1000" b="1">
                <a:solidFill>
                  <a:srgbClr val="1E3050"/>
                </a:solidFill>
                <a:latin typeface="Calibri"/>
              </a:rPr>
              <a:t>123 câu</a:t>
            </a:r>
            <a:r>
              <a:rPr sz="1000" b="0">
                <a:solidFill>
                  <a:srgbClr val="5A6B85"/>
                </a:solidFill>
                <a:latin typeface="Calibri"/>
              </a:rPr>
              <a:t> trên kho 36 văn bản, so từng câu với kho 32, ở </a:t>
            </a:r>
            <a:r>
              <a:rPr sz="1000" b="1">
                <a:solidFill>
                  <a:srgbClr val="1E3050"/>
                </a:solidFill>
                <a:latin typeface="Calibri"/>
              </a:rPr>
              <a:t>cả bốn cấu hình</a:t>
            </a:r>
            <a:r>
              <a:rPr sz="1000" b="0">
                <a:solidFill>
                  <a:srgbClr val="5A6B85"/>
                </a:solidFill>
                <a:latin typeface="Calibri"/>
              </a:rPr>
              <a:t> truy hồi.</a:t>
            </a:r>
          </a:p>
        </p:txBody>
      </p:sp>
      <p:sp>
        <p:nvSpPr>
          <p:cNvPr id="23" name="TextBox 22"/>
          <p:cNvSpPr txBox="1"/>
          <p:nvPr/>
        </p:nvSpPr>
        <p:spPr>
          <a:xfrm>
            <a:off x="6286500" y="2751772"/>
            <a:ext cx="5271135" cy="153288"/>
          </a:xfrm>
          <a:prstGeom prst="rect">
            <a:avLst/>
          </a:prstGeom>
          <a:noFill/>
        </p:spPr>
        <p:txBody>
          <a:bodyPr wrap="square" lIns="0" rIns="0" tIns="0" bIns="0" anchor="t">
            <a:spAutoFit/>
          </a:bodyPr>
          <a:lstStyle/>
          <a:p>
            <a:pPr algn="l"/>
            <a:r>
              <a:rPr sz="850" b="1" spc="110">
                <a:solidFill>
                  <a:srgbClr val="5A6B85"/>
                </a:solidFill>
                <a:latin typeface="Calibri"/>
              </a:rPr>
              <a:t>HỆ ĐẠT TỚI ĐÂU TRÊN LĨNH VỰC CHƯA TỪNG THẤY?</a:t>
            </a:r>
          </a:p>
        </p:txBody>
      </p:sp>
      <p:sp>
        <p:nvSpPr>
          <p:cNvPr id="24" name="TextBox 23"/>
          <p:cNvSpPr txBox="1"/>
          <p:nvPr/>
        </p:nvSpPr>
        <p:spPr>
          <a:xfrm>
            <a:off x="6286500" y="3023235"/>
            <a:ext cx="2013204" cy="198373"/>
          </a:xfrm>
          <a:prstGeom prst="rect">
            <a:avLst/>
          </a:prstGeom>
          <a:noFill/>
        </p:spPr>
        <p:txBody>
          <a:bodyPr wrap="square" lIns="0" rIns="0" tIns="0" bIns="0" anchor="ctr">
            <a:spAutoFit/>
          </a:bodyPr>
          <a:lstStyle/>
          <a:p>
            <a:pPr algn="l"/>
            <a:r>
              <a:rPr sz="1100" b="1">
                <a:solidFill>
                  <a:srgbClr val="1E3050"/>
                </a:solidFill>
                <a:latin typeface="Calibri"/>
              </a:rPr>
              <a:t>Ba lĩnh vực gốc</a:t>
            </a:r>
            <a:r>
              <a:rPr sz="1100" b="0">
                <a:solidFill>
                  <a:srgbClr val="5A6B85"/>
                </a:solidFill>
                <a:latin typeface="Calibri"/>
              </a:rPr>
              <a:t> · 123 câu</a:t>
            </a:r>
          </a:p>
        </p:txBody>
      </p:sp>
      <p:sp>
        <p:nvSpPr>
          <p:cNvPr id="25" name="Rounded Rectangle 24"/>
          <p:cNvSpPr/>
          <p:nvPr/>
        </p:nvSpPr>
        <p:spPr>
          <a:xfrm>
            <a:off x="8394954" y="3037522"/>
            <a:ext cx="2301544" cy="123824"/>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94954" y="3037522"/>
            <a:ext cx="1696238" cy="123824"/>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091192" y="3037522"/>
            <a:ext cx="266979" cy="123824"/>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10798" y="3023235"/>
            <a:ext cx="632536" cy="216408"/>
          </a:xfrm>
          <a:prstGeom prst="rect">
            <a:avLst/>
          </a:prstGeom>
          <a:noFill/>
        </p:spPr>
        <p:txBody>
          <a:bodyPr wrap="square" lIns="0" rIns="0" tIns="0" bIns="0" anchor="ctr">
            <a:spAutoFit/>
          </a:bodyPr>
          <a:lstStyle/>
          <a:p>
            <a:pPr algn="r"/>
            <a:r>
              <a:rPr sz="1200" b="1">
                <a:solidFill>
                  <a:srgbClr val="1554A5"/>
                </a:solidFill>
                <a:latin typeface="Calibri"/>
              </a:rPr>
              <a:t>0,853</a:t>
            </a:r>
          </a:p>
        </p:txBody>
      </p:sp>
      <p:sp>
        <p:nvSpPr>
          <p:cNvPr id="29" name="TextBox 28"/>
          <p:cNvSpPr txBox="1"/>
          <p:nvPr/>
        </p:nvSpPr>
        <p:spPr>
          <a:xfrm>
            <a:off x="6286500" y="3280410"/>
            <a:ext cx="2013204" cy="198373"/>
          </a:xfrm>
          <a:prstGeom prst="rect">
            <a:avLst/>
          </a:prstGeom>
          <a:noFill/>
        </p:spPr>
        <p:txBody>
          <a:bodyPr wrap="square" lIns="0" rIns="0" tIns="0" bIns="0" anchor="ctr">
            <a:spAutoFit/>
          </a:bodyPr>
          <a:lstStyle/>
          <a:p>
            <a:pPr algn="l"/>
            <a:r>
              <a:rPr sz="1100" b="1">
                <a:solidFill>
                  <a:srgbClr val="1E3050"/>
                </a:solidFill>
                <a:latin typeface="Calibri"/>
              </a:rPr>
              <a:t>Lao động</a:t>
            </a:r>
            <a:r>
              <a:rPr sz="1100" b="0">
                <a:solidFill>
                  <a:srgbClr val="5A6B85"/>
                </a:solidFill>
                <a:latin typeface="Calibri"/>
              </a:rPr>
              <a:t> · 10 câu</a:t>
            </a:r>
          </a:p>
        </p:txBody>
      </p:sp>
      <p:sp>
        <p:nvSpPr>
          <p:cNvPr id="30" name="Rounded Rectangle 29"/>
          <p:cNvSpPr/>
          <p:nvPr/>
        </p:nvSpPr>
        <p:spPr>
          <a:xfrm>
            <a:off x="8394954" y="3294697"/>
            <a:ext cx="2301544" cy="123824"/>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94954" y="3294697"/>
            <a:ext cx="1611081" cy="123824"/>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06035" y="3294697"/>
            <a:ext cx="345231" cy="123824"/>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10798" y="3280410"/>
            <a:ext cx="632536" cy="216408"/>
          </a:xfrm>
          <a:prstGeom prst="rect">
            <a:avLst/>
          </a:prstGeom>
          <a:noFill/>
        </p:spPr>
        <p:txBody>
          <a:bodyPr wrap="square" lIns="0" rIns="0" tIns="0" bIns="0" anchor="ctr">
            <a:spAutoFit/>
          </a:bodyPr>
          <a:lstStyle/>
          <a:p>
            <a:pPr algn="r"/>
            <a:r>
              <a:rPr sz="1200" b="1">
                <a:solidFill>
                  <a:srgbClr val="1554A5"/>
                </a:solidFill>
                <a:latin typeface="Calibri"/>
              </a:rPr>
              <a:t>0,850</a:t>
            </a:r>
          </a:p>
        </p:txBody>
      </p:sp>
      <p:sp>
        <p:nvSpPr>
          <p:cNvPr id="34" name="Rounded Rectangle 33"/>
          <p:cNvSpPr/>
          <p:nvPr/>
        </p:nvSpPr>
        <p:spPr>
          <a:xfrm>
            <a:off x="6286500" y="3570922"/>
            <a:ext cx="104775" cy="76200"/>
          </a:xfrm>
          <a:prstGeom prst="roundRect">
            <a:avLst>
              <a:gd name="adj" fmla="val 25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8900" y="3542347"/>
            <a:ext cx="1238250" cy="153288"/>
          </a:xfrm>
          <a:prstGeom prst="rect">
            <a:avLst/>
          </a:prstGeom>
          <a:noFill/>
        </p:spPr>
        <p:txBody>
          <a:bodyPr wrap="square" lIns="0" rIns="0" tIns="0" bIns="0" anchor="t">
            <a:spAutoFit/>
          </a:bodyPr>
          <a:lstStyle/>
          <a:p>
            <a:pPr algn="l"/>
            <a:r>
              <a:rPr sz="850" b="0">
                <a:solidFill>
                  <a:srgbClr val="5A6B85"/>
                </a:solidFill>
                <a:latin typeface="Calibri"/>
              </a:rPr>
              <a:t>trước cải tiến</a:t>
            </a:r>
          </a:p>
        </p:txBody>
      </p:sp>
      <p:sp>
        <p:nvSpPr>
          <p:cNvPr id="36" name="Rounded Rectangle 35"/>
          <p:cNvSpPr/>
          <p:nvPr/>
        </p:nvSpPr>
        <p:spPr>
          <a:xfrm>
            <a:off x="7090410" y="3570922"/>
            <a:ext cx="104775" cy="76200"/>
          </a:xfrm>
          <a:prstGeom prst="roundRect">
            <a:avLst>
              <a:gd name="adj" fmla="val 25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42810" y="3542347"/>
            <a:ext cx="1238250" cy="153288"/>
          </a:xfrm>
          <a:prstGeom prst="rect">
            <a:avLst/>
          </a:prstGeom>
          <a:noFill/>
        </p:spPr>
        <p:txBody>
          <a:bodyPr wrap="square" lIns="0" rIns="0" tIns="0" bIns="0" anchor="t">
            <a:spAutoFit/>
          </a:bodyPr>
          <a:lstStyle/>
          <a:p>
            <a:pPr algn="l"/>
            <a:r>
              <a:rPr sz="850" b="0">
                <a:solidFill>
                  <a:srgbClr val="5A6B85"/>
                </a:solidFill>
                <a:latin typeface="Calibri"/>
              </a:rPr>
              <a:t>phần tăng thêm</a:t>
            </a:r>
          </a:p>
        </p:txBody>
      </p:sp>
      <p:sp>
        <p:nvSpPr>
          <p:cNvPr id="38" name="Rounded Rectangle 37"/>
          <p:cNvSpPr/>
          <p:nvPr/>
        </p:nvSpPr>
        <p:spPr>
          <a:xfrm>
            <a:off x="6286500" y="3799522"/>
            <a:ext cx="5271135" cy="628650"/>
          </a:xfrm>
          <a:prstGeom prst="roundRect">
            <a:avLst>
              <a:gd name="adj" fmla="val 12121"/>
            </a:avLst>
          </a:prstGeom>
          <a:solidFill>
            <a:srgbClr val="EB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86500" y="3799522"/>
            <a:ext cx="47625" cy="628650"/>
          </a:xfrm>
          <a:prstGeom prst="rect">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57950" y="3913822"/>
            <a:ext cx="4928235" cy="457200"/>
          </a:xfrm>
          <a:prstGeom prst="rect">
            <a:avLst/>
          </a:prstGeom>
          <a:noFill/>
        </p:spPr>
        <p:txBody>
          <a:bodyPr wrap="square" lIns="0" rIns="0" tIns="0" bIns="0" anchor="t">
            <a:spAutoFit/>
          </a:bodyPr>
          <a:lstStyle/>
          <a:p>
            <a:pPr algn="l">
              <a:lnSpc>
                <a:spcPct val="130000"/>
              </a:lnSpc>
            </a:pPr>
            <a:r>
              <a:rPr sz="1000" b="0">
                <a:solidFill>
                  <a:srgbClr val="5A6B85"/>
                </a:solidFill>
                <a:latin typeface="Calibri"/>
              </a:rPr>
              <a:t>Câu </a:t>
            </a:r>
            <a:r>
              <a:rPr sz="1000" b="1">
                <a:solidFill>
                  <a:srgbClr val="1E3050"/>
                </a:solidFill>
                <a:latin typeface="Calibri"/>
              </a:rPr>
              <a:t>LD02</a:t>
            </a:r>
            <a:r>
              <a:rPr sz="1000" b="0">
                <a:solidFill>
                  <a:srgbClr val="5A6B85"/>
                </a:solidFill>
                <a:latin typeface="Calibri"/>
              </a:rPr>
              <a:t> — điều khoản trả lời xác định phạm vi bằng cách dẫn sang Điều 34 — tăng </a:t>
            </a:r>
            <a:r>
              <a:rPr sz="1000" b="1">
                <a:solidFill>
                  <a:srgbClr val="1E3050"/>
                </a:solidFill>
                <a:latin typeface="Calibri"/>
              </a:rPr>
              <a:t>0,50 → 1,00</a:t>
            </a:r>
            <a:r>
              <a:rPr sz="1000" b="0">
                <a:solidFill>
                  <a:srgbClr val="5A6B85"/>
                </a:solidFill>
                <a:latin typeface="Calibri"/>
              </a:rPr>
              <a:t>. Cơ chế dẫn chiếu hoạt động đúng thiết kế trên văn bản chưa từng thấy.</a:t>
            </a:r>
          </a:p>
        </p:txBody>
      </p:sp>
      <p:sp>
        <p:nvSpPr>
          <p:cNvPr id="41" name="TextBox 40"/>
          <p:cNvSpPr txBox="1"/>
          <p:nvPr/>
        </p:nvSpPr>
        <p:spPr>
          <a:xfrm>
            <a:off x="6286500" y="4542472"/>
            <a:ext cx="5271135" cy="381000"/>
          </a:xfrm>
          <a:prstGeom prst="rect">
            <a:avLst/>
          </a:prstGeom>
          <a:noFill/>
        </p:spPr>
        <p:txBody>
          <a:bodyPr wrap="square" lIns="0" rIns="0" tIns="0" bIns="0" anchor="t">
            <a:spAutoFit/>
          </a:bodyPr>
          <a:lstStyle/>
          <a:p>
            <a:pPr algn="l">
              <a:lnSpc>
                <a:spcPct val="130000"/>
              </a:lnSpc>
            </a:pPr>
            <a:r>
              <a:rPr sz="900" b="1">
                <a:solidFill>
                  <a:srgbClr val="1E3050"/>
                </a:solidFill>
                <a:latin typeface="Calibri"/>
              </a:rPr>
              <a:t>Giới hạn: </a:t>
            </a:r>
            <a:r>
              <a:rPr sz="900" b="0">
                <a:solidFill>
                  <a:srgbClr val="5A6B85"/>
                </a:solidFill>
                <a:latin typeface="Calibri"/>
              </a:rPr>
              <a:t>10 câu là mẫu nhỏ so với 123 câu, nên 0,850 đọc như một chỉ báo. Tập chuẩn do nhóm soạn, cả hai thành viên đã rà toàn bộ.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Kiểm chứng độc lập</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365" y="1342072"/>
            <a:ext cx="5271135" cy="153288"/>
          </a:xfrm>
          <a:prstGeom prst="rect">
            <a:avLst/>
          </a:prstGeom>
          <a:noFill/>
        </p:spPr>
        <p:txBody>
          <a:bodyPr wrap="square" lIns="0" rIns="0" tIns="0" bIns="0" anchor="t">
            <a:spAutoFit/>
          </a:bodyPr>
          <a:lstStyle/>
          <a:p>
            <a:pPr algn="l"/>
            <a:r>
              <a:rPr sz="850" b="1" spc="110">
                <a:solidFill>
                  <a:srgbClr val="5A6B85"/>
                </a:solidFill>
                <a:latin typeface="Calibri"/>
              </a:rPr>
              <a:t>CHẤM LẠI 295 TRÍCH DẪN BẰNG HAI BỘ CHẤM KHÁC</a:t>
            </a:r>
          </a:p>
        </p:txBody>
      </p:sp>
      <p:sp>
        <p:nvSpPr>
          <p:cNvPr id="6" name="TextBox 5"/>
          <p:cNvSpPr txBox="1"/>
          <p:nvPr/>
        </p:nvSpPr>
        <p:spPr>
          <a:xfrm>
            <a:off x="634365" y="1665922"/>
            <a:ext cx="1905000" cy="225424"/>
          </a:xfrm>
          <a:prstGeom prst="rect">
            <a:avLst/>
          </a:prstGeom>
          <a:noFill/>
        </p:spPr>
        <p:txBody>
          <a:bodyPr wrap="square" lIns="0" rIns="0" tIns="0" bIns="0" anchor="t">
            <a:spAutoFit/>
          </a:bodyPr>
          <a:lstStyle/>
          <a:p>
            <a:pPr algn="l"/>
            <a:r>
              <a:rPr sz="1250" b="1">
                <a:solidFill>
                  <a:srgbClr val="1E3050"/>
                </a:solidFill>
                <a:latin typeface="Calibri"/>
              </a:rPr>
              <a:t>Gemini 2.5 Pro</a:t>
            </a:r>
          </a:p>
        </p:txBody>
      </p:sp>
      <p:sp>
        <p:nvSpPr>
          <p:cNvPr id="7" name="TextBox 6"/>
          <p:cNvSpPr txBox="1"/>
          <p:nvPr/>
        </p:nvSpPr>
        <p:spPr>
          <a:xfrm>
            <a:off x="634365" y="1865947"/>
            <a:ext cx="1905000" cy="171322"/>
          </a:xfrm>
          <a:prstGeom prst="rect">
            <a:avLst/>
          </a:prstGeom>
          <a:noFill/>
        </p:spPr>
        <p:txBody>
          <a:bodyPr wrap="square" lIns="0" rIns="0" tIns="0" bIns="0" anchor="t">
            <a:spAutoFit/>
          </a:bodyPr>
          <a:lstStyle/>
          <a:p>
            <a:pPr algn="l"/>
            <a:r>
              <a:rPr sz="950" b="0">
                <a:solidFill>
                  <a:srgbClr val="B45309"/>
                </a:solidFill>
                <a:latin typeface="Calibri"/>
              </a:rPr>
              <a:t>chính là mô hình sinh</a:t>
            </a:r>
          </a:p>
        </p:txBody>
      </p:sp>
      <p:sp>
        <p:nvSpPr>
          <p:cNvPr id="8" name="Rounded Rectangle 7"/>
          <p:cNvSpPr/>
          <p:nvPr/>
        </p:nvSpPr>
        <p:spPr>
          <a:xfrm>
            <a:off x="2539365" y="1665922"/>
            <a:ext cx="2794635" cy="228600"/>
          </a:xfrm>
          <a:prstGeom prst="roundRect">
            <a:avLst>
              <a:gd name="adj" fmla="val 29166"/>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539365" y="1665922"/>
            <a:ext cx="2299222" cy="228600"/>
          </a:xfrm>
          <a:prstGeom prst="roundRect">
            <a:avLst>
              <a:gd name="adj" fmla="val 29166"/>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1150" y="1694497"/>
            <a:ext cx="571500" cy="252475"/>
          </a:xfrm>
          <a:prstGeom prst="rect">
            <a:avLst/>
          </a:prstGeom>
          <a:noFill/>
        </p:spPr>
        <p:txBody>
          <a:bodyPr wrap="square" lIns="0" rIns="0" tIns="0" bIns="0" anchor="t">
            <a:spAutoFit/>
          </a:bodyPr>
          <a:lstStyle/>
          <a:p>
            <a:pPr algn="l"/>
            <a:r>
              <a:rPr sz="1400" b="1">
                <a:solidFill>
                  <a:srgbClr val="B45309"/>
                </a:solidFill>
                <a:latin typeface="Calibri"/>
              </a:rPr>
              <a:t>88,1%</a:t>
            </a:r>
          </a:p>
        </p:txBody>
      </p:sp>
      <p:sp>
        <p:nvSpPr>
          <p:cNvPr id="11" name="TextBox 10"/>
          <p:cNvSpPr txBox="1"/>
          <p:nvPr/>
        </p:nvSpPr>
        <p:spPr>
          <a:xfrm>
            <a:off x="634365" y="2256472"/>
            <a:ext cx="1905000" cy="225424"/>
          </a:xfrm>
          <a:prstGeom prst="rect">
            <a:avLst/>
          </a:prstGeom>
          <a:noFill/>
        </p:spPr>
        <p:txBody>
          <a:bodyPr wrap="square" lIns="0" rIns="0" tIns="0" bIns="0" anchor="t">
            <a:spAutoFit/>
          </a:bodyPr>
          <a:lstStyle/>
          <a:p>
            <a:pPr algn="l"/>
            <a:r>
              <a:rPr sz="1250" b="1">
                <a:solidFill>
                  <a:srgbClr val="1E3050"/>
                </a:solidFill>
                <a:latin typeface="Calibri"/>
              </a:rPr>
              <a:t>Qwen3-4B-Instruct</a:t>
            </a:r>
          </a:p>
        </p:txBody>
      </p:sp>
      <p:sp>
        <p:nvSpPr>
          <p:cNvPr id="12" name="TextBox 11"/>
          <p:cNvSpPr txBox="1"/>
          <p:nvPr/>
        </p:nvSpPr>
        <p:spPr>
          <a:xfrm>
            <a:off x="634365" y="2456497"/>
            <a:ext cx="1905000" cy="171322"/>
          </a:xfrm>
          <a:prstGeom prst="rect">
            <a:avLst/>
          </a:prstGeom>
          <a:noFill/>
        </p:spPr>
        <p:txBody>
          <a:bodyPr wrap="square" lIns="0" rIns="0" tIns="0" bIns="0" anchor="t">
            <a:spAutoFit/>
          </a:bodyPr>
          <a:lstStyle/>
          <a:p>
            <a:pPr algn="l"/>
            <a:r>
              <a:rPr sz="950" b="0">
                <a:solidFill>
                  <a:srgbClr val="5A6B85"/>
                </a:solidFill>
                <a:latin typeface="Calibri"/>
              </a:rPr>
              <a:t>khác nhà, khác kiến trúc</a:t>
            </a:r>
          </a:p>
        </p:txBody>
      </p:sp>
      <p:sp>
        <p:nvSpPr>
          <p:cNvPr id="13" name="Rounded Rectangle 12"/>
          <p:cNvSpPr/>
          <p:nvPr/>
        </p:nvSpPr>
        <p:spPr>
          <a:xfrm>
            <a:off x="2539365" y="2256472"/>
            <a:ext cx="2794635" cy="228600"/>
          </a:xfrm>
          <a:prstGeom prst="roundRect">
            <a:avLst>
              <a:gd name="adj" fmla="val 29166"/>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539365" y="2256472"/>
            <a:ext cx="1740295" cy="228600"/>
          </a:xfrm>
          <a:prstGeom prst="roundRect">
            <a:avLst>
              <a:gd name="adj" fmla="val 29166"/>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1150" y="2285047"/>
            <a:ext cx="571500" cy="252475"/>
          </a:xfrm>
          <a:prstGeom prst="rect">
            <a:avLst/>
          </a:prstGeom>
          <a:noFill/>
        </p:spPr>
        <p:txBody>
          <a:bodyPr wrap="square" lIns="0" rIns="0" tIns="0" bIns="0" anchor="t">
            <a:spAutoFit/>
          </a:bodyPr>
          <a:lstStyle/>
          <a:p>
            <a:pPr algn="l"/>
            <a:r>
              <a:rPr sz="1400" b="1">
                <a:solidFill>
                  <a:srgbClr val="1E3050"/>
                </a:solidFill>
                <a:latin typeface="Calibri"/>
              </a:rPr>
              <a:t>83,7%</a:t>
            </a:r>
          </a:p>
        </p:txBody>
      </p:sp>
      <p:sp>
        <p:nvSpPr>
          <p:cNvPr id="16" name="TextBox 15"/>
          <p:cNvSpPr txBox="1"/>
          <p:nvPr/>
        </p:nvSpPr>
        <p:spPr>
          <a:xfrm>
            <a:off x="634365" y="2847022"/>
            <a:ext cx="1905000" cy="225424"/>
          </a:xfrm>
          <a:prstGeom prst="rect">
            <a:avLst/>
          </a:prstGeom>
          <a:noFill/>
        </p:spPr>
        <p:txBody>
          <a:bodyPr wrap="square" lIns="0" rIns="0" tIns="0" bIns="0" anchor="t">
            <a:spAutoFit/>
          </a:bodyPr>
          <a:lstStyle/>
          <a:p>
            <a:pPr algn="l"/>
            <a:r>
              <a:rPr sz="1250" b="1">
                <a:solidFill>
                  <a:srgbClr val="1E3050"/>
                </a:solidFill>
                <a:latin typeface="Calibri"/>
              </a:rPr>
              <a:t>Gemini 2.5 Flash</a:t>
            </a:r>
          </a:p>
        </p:txBody>
      </p:sp>
      <p:sp>
        <p:nvSpPr>
          <p:cNvPr id="17" name="TextBox 16"/>
          <p:cNvSpPr txBox="1"/>
          <p:nvPr/>
        </p:nvSpPr>
        <p:spPr>
          <a:xfrm>
            <a:off x="634365" y="3047047"/>
            <a:ext cx="1905000" cy="171322"/>
          </a:xfrm>
          <a:prstGeom prst="rect">
            <a:avLst/>
          </a:prstGeom>
          <a:noFill/>
        </p:spPr>
        <p:txBody>
          <a:bodyPr wrap="square" lIns="0" rIns="0" tIns="0" bIns="0" anchor="t">
            <a:spAutoFit/>
          </a:bodyPr>
          <a:lstStyle/>
          <a:p>
            <a:pPr algn="l"/>
            <a:r>
              <a:rPr sz="950" b="0">
                <a:solidFill>
                  <a:srgbClr val="5A6B85"/>
                </a:solidFill>
                <a:latin typeface="Calibri"/>
              </a:rPr>
              <a:t>cùng nhà, khác mô hình</a:t>
            </a:r>
          </a:p>
        </p:txBody>
      </p:sp>
      <p:sp>
        <p:nvSpPr>
          <p:cNvPr id="18" name="Rounded Rectangle 17"/>
          <p:cNvSpPr/>
          <p:nvPr/>
        </p:nvSpPr>
        <p:spPr>
          <a:xfrm>
            <a:off x="2539365" y="2847022"/>
            <a:ext cx="2794635" cy="228600"/>
          </a:xfrm>
          <a:prstGeom prst="roundRect">
            <a:avLst>
              <a:gd name="adj" fmla="val 29166"/>
            </a:avLst>
          </a:prstGeom>
          <a:solidFill>
            <a:srgbClr val="E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39365" y="2847022"/>
            <a:ext cx="1143259" cy="228600"/>
          </a:xfrm>
          <a:prstGeom prst="roundRect">
            <a:avLst>
              <a:gd name="adj" fmla="val 29166"/>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1150" y="2875597"/>
            <a:ext cx="571500" cy="252475"/>
          </a:xfrm>
          <a:prstGeom prst="rect">
            <a:avLst/>
          </a:prstGeom>
          <a:noFill/>
        </p:spPr>
        <p:txBody>
          <a:bodyPr wrap="square" lIns="0" rIns="0" tIns="0" bIns="0" anchor="t">
            <a:spAutoFit/>
          </a:bodyPr>
          <a:lstStyle/>
          <a:p>
            <a:pPr algn="l"/>
            <a:r>
              <a:rPr sz="1400" b="1">
                <a:solidFill>
                  <a:srgbClr val="1E3050"/>
                </a:solidFill>
                <a:latin typeface="Calibri"/>
              </a:rPr>
              <a:t>79,0%</a:t>
            </a:r>
          </a:p>
        </p:txBody>
      </p:sp>
      <p:sp>
        <p:nvSpPr>
          <p:cNvPr id="21" name="TextBox 20"/>
          <p:cNvSpPr txBox="1"/>
          <p:nvPr/>
        </p:nvSpPr>
        <p:spPr>
          <a:xfrm>
            <a:off x="2539365" y="3494722"/>
            <a:ext cx="3366135" cy="162306"/>
          </a:xfrm>
          <a:prstGeom prst="rect">
            <a:avLst/>
          </a:prstGeom>
          <a:noFill/>
        </p:spPr>
        <p:txBody>
          <a:bodyPr wrap="square" lIns="0" rIns="0" tIns="0" bIns="0" anchor="t">
            <a:spAutoFit/>
          </a:bodyPr>
          <a:lstStyle/>
          <a:p>
            <a:pPr algn="l"/>
            <a:r>
              <a:rPr sz="900" b="0">
                <a:solidFill>
                  <a:srgbClr val="5A6B85"/>
                </a:solidFill>
                <a:latin typeface="Calibri"/>
              </a:rPr>
              <a:t>trục bắt đầu từ 70% để thấy rõ mức chênh</a:t>
            </a:r>
          </a:p>
        </p:txBody>
      </p:sp>
      <p:sp>
        <p:nvSpPr>
          <p:cNvPr id="22" name="Rounded Rectangle 21"/>
          <p:cNvSpPr/>
          <p:nvPr/>
        </p:nvSpPr>
        <p:spPr>
          <a:xfrm>
            <a:off x="634365" y="3894772"/>
            <a:ext cx="5271135" cy="914400"/>
          </a:xfrm>
          <a:prstGeom prst="roundRect">
            <a:avLst>
              <a:gd name="adj" fmla="val 10416"/>
            </a:avLst>
          </a:prstGeom>
          <a:solidFill>
            <a:srgbClr val="FD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4365" y="3894772"/>
            <a:ext cx="47625"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864" y="4066222"/>
            <a:ext cx="4890135" cy="723900"/>
          </a:xfrm>
          <a:prstGeom prst="rect">
            <a:avLst/>
          </a:prstGeom>
          <a:noFill/>
        </p:spPr>
        <p:txBody>
          <a:bodyPr wrap="square" lIns="0" rIns="0" tIns="0" bIns="0" anchor="t">
            <a:spAutoFit/>
          </a:bodyPr>
          <a:lstStyle/>
          <a:p>
            <a:pPr algn="l">
              <a:lnSpc>
                <a:spcPct val="140000"/>
              </a:lnSpc>
            </a:pPr>
            <a:r>
              <a:rPr sz="1050" b="0">
                <a:solidFill>
                  <a:srgbClr val="7A4A12"/>
                </a:solidFill>
                <a:latin typeface="Calibri"/>
              </a:rPr>
              <a:t>Bộ chấm </a:t>
            </a:r>
            <a:r>
              <a:rPr sz="1050" b="1">
                <a:solidFill>
                  <a:srgbClr val="B45309"/>
                </a:solidFill>
                <a:latin typeface="Calibri"/>
              </a:rPr>
              <a:t>chính là mô hình sinh</a:t>
            </a:r>
            <a:r>
              <a:rPr sz="1050" b="0">
                <a:solidFill>
                  <a:srgbClr val="7A4A12"/>
                </a:solidFill>
                <a:latin typeface="Calibri"/>
              </a:rPr>
              <a:t> cho điểm cao nhất; hai bộ chấm độc lập đều thấp hơn. Số liệu </a:t>
            </a:r>
            <a:r>
              <a:rPr sz="1050" b="1">
                <a:solidFill>
                  <a:srgbClr val="1E3050"/>
                </a:solidFill>
                <a:latin typeface="Calibri"/>
              </a:rPr>
              <a:t>xác nhận</a:t>
            </a:r>
            <a:r>
              <a:rPr sz="1050" b="0">
                <a:solidFill>
                  <a:srgbClr val="7A4A12"/>
                </a:solidFill>
                <a:latin typeface="Calibri"/>
              </a:rPr>
              <a:t> cảnh báo mà báo cáo đã tự nêu ở mục 4.4.1 — nên trình bày </a:t>
            </a:r>
            <a:r>
              <a:rPr sz="1050" b="1">
                <a:solidFill>
                  <a:srgbClr val="B45309"/>
                </a:solidFill>
                <a:latin typeface="Calibri"/>
              </a:rPr>
              <a:t>79,0%</a:t>
            </a:r>
            <a:r>
              <a:rPr sz="1050" b="0">
                <a:solidFill>
                  <a:srgbClr val="7A4A12"/>
                </a:solidFill>
                <a:latin typeface="Calibri"/>
              </a:rPr>
              <a:t> làm cận dưới thận trọng.</a:t>
            </a:r>
          </a:p>
        </p:txBody>
      </p:sp>
      <p:sp>
        <p:nvSpPr>
          <p:cNvPr id="25" name="TextBox 24"/>
          <p:cNvSpPr txBox="1"/>
          <p:nvPr/>
        </p:nvSpPr>
        <p:spPr>
          <a:xfrm>
            <a:off x="6286500" y="1342072"/>
            <a:ext cx="5271135" cy="153288"/>
          </a:xfrm>
          <a:prstGeom prst="rect">
            <a:avLst/>
          </a:prstGeom>
          <a:noFill/>
        </p:spPr>
        <p:txBody>
          <a:bodyPr wrap="square" lIns="0" rIns="0" tIns="0" bIns="0" anchor="t">
            <a:spAutoFit/>
          </a:bodyPr>
          <a:lstStyle/>
          <a:p>
            <a:pPr algn="l"/>
            <a:r>
              <a:rPr sz="850" b="1" spc="110">
                <a:solidFill>
                  <a:srgbClr val="5A6B85"/>
                </a:solidFill>
                <a:latin typeface="Calibri"/>
              </a:rPr>
              <a:t>HÀNG THỨ NĂM CỦA BẢNG 4.13 · MÔ HÌNH CHẠY TẠI CHỖ</a:t>
            </a:r>
          </a:p>
        </p:txBody>
      </p:sp>
      <p:sp>
        <p:nvSpPr>
          <p:cNvPr id="26" name="TextBox 25"/>
          <p:cNvSpPr txBox="1"/>
          <p:nvPr/>
        </p:nvSpPr>
        <p:spPr>
          <a:xfrm>
            <a:off x="8191500" y="1627822"/>
            <a:ext cx="1143000" cy="153288"/>
          </a:xfrm>
          <a:prstGeom prst="rect">
            <a:avLst/>
          </a:prstGeom>
          <a:noFill/>
        </p:spPr>
        <p:txBody>
          <a:bodyPr wrap="square" lIns="0" rIns="0" tIns="0" bIns="0" anchor="t">
            <a:spAutoFit/>
          </a:bodyPr>
          <a:lstStyle/>
          <a:p>
            <a:pPr algn="l"/>
            <a:r>
              <a:rPr sz="850" b="1" spc="110">
                <a:solidFill>
                  <a:srgbClr val="5A6B85"/>
                </a:solidFill>
                <a:latin typeface="Calibri"/>
              </a:rPr>
              <a:t>NAIVE RAG</a:t>
            </a:r>
          </a:p>
        </p:txBody>
      </p:sp>
      <p:sp>
        <p:nvSpPr>
          <p:cNvPr id="27" name="TextBox 26"/>
          <p:cNvSpPr txBox="1"/>
          <p:nvPr/>
        </p:nvSpPr>
        <p:spPr>
          <a:xfrm>
            <a:off x="9429750" y="1627822"/>
            <a:ext cx="1143000" cy="153288"/>
          </a:xfrm>
          <a:prstGeom prst="rect">
            <a:avLst/>
          </a:prstGeom>
          <a:noFill/>
        </p:spPr>
        <p:txBody>
          <a:bodyPr wrap="square" lIns="0" rIns="0" tIns="0" bIns="0" anchor="t">
            <a:spAutoFit/>
          </a:bodyPr>
          <a:lstStyle/>
          <a:p>
            <a:pPr algn="l"/>
            <a:r>
              <a:rPr sz="850" b="1" spc="110">
                <a:solidFill>
                  <a:srgbClr val="1554A5"/>
                </a:solidFill>
                <a:latin typeface="Calibri"/>
              </a:rPr>
              <a:t>GRAPHRAG</a:t>
            </a:r>
          </a:p>
        </p:txBody>
      </p:sp>
      <p:sp>
        <p:nvSpPr>
          <p:cNvPr id="28" name="TextBox 27"/>
          <p:cNvSpPr txBox="1"/>
          <p:nvPr/>
        </p:nvSpPr>
        <p:spPr>
          <a:xfrm>
            <a:off x="6286500" y="2046922"/>
            <a:ext cx="1809750" cy="225424"/>
          </a:xfrm>
          <a:prstGeom prst="rect">
            <a:avLst/>
          </a:prstGeom>
          <a:noFill/>
        </p:spPr>
        <p:txBody>
          <a:bodyPr wrap="square" lIns="0" rIns="0" tIns="0" bIns="0" anchor="t">
            <a:spAutoFit/>
          </a:bodyPr>
          <a:lstStyle/>
          <a:p>
            <a:pPr algn="l"/>
            <a:r>
              <a:rPr sz="1250" b="1">
                <a:solidFill>
                  <a:srgbClr val="1E3050"/>
                </a:solidFill>
                <a:latin typeface="Calibri"/>
              </a:rPr>
              <a:t>Gemini 2.5 Pro</a:t>
            </a:r>
          </a:p>
        </p:txBody>
      </p:sp>
      <p:sp>
        <p:nvSpPr>
          <p:cNvPr id="29" name="Rounded Rectangle 28"/>
          <p:cNvSpPr/>
          <p:nvPr/>
        </p:nvSpPr>
        <p:spPr>
          <a:xfrm>
            <a:off x="8191500" y="1856422"/>
            <a:ext cx="1215666" cy="209550"/>
          </a:xfrm>
          <a:prstGeom prst="roundRect">
            <a:avLst>
              <a:gd name="adj" fmla="val 27272"/>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83366" y="1884997"/>
            <a:ext cx="666750" cy="198373"/>
          </a:xfrm>
          <a:prstGeom prst="rect">
            <a:avLst/>
          </a:prstGeom>
          <a:noFill/>
        </p:spPr>
        <p:txBody>
          <a:bodyPr wrap="square" lIns="0" rIns="0" tIns="0" bIns="0" anchor="t">
            <a:spAutoFit/>
          </a:bodyPr>
          <a:lstStyle/>
          <a:p>
            <a:pPr algn="l"/>
            <a:r>
              <a:rPr sz="1100" b="0">
                <a:solidFill>
                  <a:srgbClr val="5A6B85"/>
                </a:solidFill>
                <a:latin typeface="Calibri"/>
              </a:rPr>
              <a:t>0,435</a:t>
            </a:r>
          </a:p>
        </p:txBody>
      </p:sp>
      <p:sp>
        <p:nvSpPr>
          <p:cNvPr id="31" name="Rounded Rectangle 30"/>
          <p:cNvSpPr/>
          <p:nvPr/>
        </p:nvSpPr>
        <p:spPr>
          <a:xfrm>
            <a:off x="8191500" y="2123122"/>
            <a:ext cx="1724289" cy="209550"/>
          </a:xfrm>
          <a:prstGeom prst="roundRect">
            <a:avLst>
              <a:gd name="adj" fmla="val 2727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91989" y="2151697"/>
            <a:ext cx="666750" cy="198373"/>
          </a:xfrm>
          <a:prstGeom prst="rect">
            <a:avLst/>
          </a:prstGeom>
          <a:noFill/>
        </p:spPr>
        <p:txBody>
          <a:bodyPr wrap="square" lIns="0" rIns="0" tIns="0" bIns="0" anchor="t">
            <a:spAutoFit/>
          </a:bodyPr>
          <a:lstStyle/>
          <a:p>
            <a:pPr algn="l"/>
            <a:r>
              <a:rPr sz="1100" b="1">
                <a:solidFill>
                  <a:srgbClr val="1554A5"/>
                </a:solidFill>
                <a:latin typeface="Calibri"/>
              </a:rPr>
              <a:t>0,617</a:t>
            </a:r>
          </a:p>
        </p:txBody>
      </p:sp>
      <p:sp>
        <p:nvSpPr>
          <p:cNvPr id="33" name="TextBox 32"/>
          <p:cNvSpPr txBox="1"/>
          <p:nvPr/>
        </p:nvSpPr>
        <p:spPr>
          <a:xfrm>
            <a:off x="6286500" y="2770822"/>
            <a:ext cx="1809750" cy="225424"/>
          </a:xfrm>
          <a:prstGeom prst="rect">
            <a:avLst/>
          </a:prstGeom>
          <a:noFill/>
        </p:spPr>
        <p:txBody>
          <a:bodyPr wrap="square" lIns="0" rIns="0" tIns="0" bIns="0" anchor="t">
            <a:spAutoFit/>
          </a:bodyPr>
          <a:lstStyle/>
          <a:p>
            <a:pPr algn="l"/>
            <a:r>
              <a:rPr sz="1250" b="1">
                <a:solidFill>
                  <a:srgbClr val="1E3050"/>
                </a:solidFill>
                <a:latin typeface="Calibri"/>
              </a:rPr>
              <a:t>Cục bộ 30B</a:t>
            </a:r>
          </a:p>
        </p:txBody>
      </p:sp>
      <p:sp>
        <p:nvSpPr>
          <p:cNvPr id="34" name="Rounded Rectangle 33"/>
          <p:cNvSpPr/>
          <p:nvPr/>
        </p:nvSpPr>
        <p:spPr>
          <a:xfrm>
            <a:off x="8191500" y="2580322"/>
            <a:ext cx="885899" cy="209550"/>
          </a:xfrm>
          <a:prstGeom prst="roundRect">
            <a:avLst>
              <a:gd name="adj" fmla="val 27272"/>
            </a:avLst>
          </a:prstGeom>
          <a:solidFill>
            <a:srgbClr val="AEB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53599" y="2608897"/>
            <a:ext cx="666750" cy="198373"/>
          </a:xfrm>
          <a:prstGeom prst="rect">
            <a:avLst/>
          </a:prstGeom>
          <a:noFill/>
        </p:spPr>
        <p:txBody>
          <a:bodyPr wrap="square" lIns="0" rIns="0" tIns="0" bIns="0" anchor="t">
            <a:spAutoFit/>
          </a:bodyPr>
          <a:lstStyle/>
          <a:p>
            <a:pPr algn="l"/>
            <a:r>
              <a:rPr sz="1100" b="0">
                <a:solidFill>
                  <a:srgbClr val="5A6B85"/>
                </a:solidFill>
                <a:latin typeface="Calibri"/>
              </a:rPr>
              <a:t>0,317</a:t>
            </a:r>
          </a:p>
        </p:txBody>
      </p:sp>
      <p:sp>
        <p:nvSpPr>
          <p:cNvPr id="36" name="Rounded Rectangle 35"/>
          <p:cNvSpPr/>
          <p:nvPr/>
        </p:nvSpPr>
        <p:spPr>
          <a:xfrm>
            <a:off x="8191500" y="2847022"/>
            <a:ext cx="1629272" cy="209550"/>
          </a:xfrm>
          <a:prstGeom prst="roundRect">
            <a:avLst>
              <a:gd name="adj" fmla="val 27272"/>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96972" y="2875597"/>
            <a:ext cx="666750" cy="198373"/>
          </a:xfrm>
          <a:prstGeom prst="rect">
            <a:avLst/>
          </a:prstGeom>
          <a:noFill/>
        </p:spPr>
        <p:txBody>
          <a:bodyPr wrap="square" lIns="0" rIns="0" tIns="0" bIns="0" anchor="t">
            <a:spAutoFit/>
          </a:bodyPr>
          <a:lstStyle/>
          <a:p>
            <a:pPr algn="l"/>
            <a:r>
              <a:rPr sz="1100" b="1">
                <a:solidFill>
                  <a:srgbClr val="1554A5"/>
                </a:solidFill>
                <a:latin typeface="Calibri"/>
              </a:rPr>
              <a:t>0,583</a:t>
            </a:r>
          </a:p>
        </p:txBody>
      </p:sp>
      <p:sp>
        <p:nvSpPr>
          <p:cNvPr id="38" name="Rounded Rectangle 37"/>
          <p:cNvSpPr/>
          <p:nvPr/>
        </p:nvSpPr>
        <p:spPr>
          <a:xfrm>
            <a:off x="6286500" y="3380422"/>
            <a:ext cx="2578417" cy="533400"/>
          </a:xfrm>
          <a:prstGeom prst="roundRect">
            <a:avLst>
              <a:gd name="adj" fmla="val 14285"/>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8900" y="3494722"/>
            <a:ext cx="2254567" cy="306577"/>
          </a:xfrm>
          <a:prstGeom prst="rect">
            <a:avLst/>
          </a:prstGeom>
          <a:noFill/>
        </p:spPr>
        <p:txBody>
          <a:bodyPr wrap="square" lIns="0" rIns="0" tIns="0" bIns="0" anchor="t">
            <a:spAutoFit/>
          </a:bodyPr>
          <a:lstStyle/>
          <a:p>
            <a:pPr algn="l"/>
            <a:r>
              <a:rPr sz="1700" b="1">
                <a:solidFill>
                  <a:srgbClr val="1554A5"/>
                </a:solidFill>
                <a:latin typeface="Calibri"/>
              </a:rPr>
              <a:t>+0,266</a:t>
            </a:r>
          </a:p>
        </p:txBody>
      </p:sp>
      <p:sp>
        <p:nvSpPr>
          <p:cNvPr id="40" name="TextBox 39"/>
          <p:cNvSpPr txBox="1"/>
          <p:nvPr/>
        </p:nvSpPr>
        <p:spPr>
          <a:xfrm>
            <a:off x="6438900" y="3723322"/>
            <a:ext cx="2254567" cy="153288"/>
          </a:xfrm>
          <a:prstGeom prst="rect">
            <a:avLst/>
          </a:prstGeom>
          <a:noFill/>
        </p:spPr>
        <p:txBody>
          <a:bodyPr wrap="square" lIns="0" rIns="0" tIns="0" bIns="0" anchor="t">
            <a:spAutoFit/>
          </a:bodyPr>
          <a:lstStyle/>
          <a:p>
            <a:pPr algn="l"/>
            <a:r>
              <a:rPr sz="850" b="0">
                <a:solidFill>
                  <a:srgbClr val="2C4A72"/>
                </a:solidFill>
                <a:latin typeface="Calibri"/>
              </a:rPr>
              <a:t>chênh lệch của mô hình 30B</a:t>
            </a:r>
          </a:p>
        </p:txBody>
      </p:sp>
      <p:sp>
        <p:nvSpPr>
          <p:cNvPr id="41" name="Rounded Rectangle 40"/>
          <p:cNvSpPr/>
          <p:nvPr/>
        </p:nvSpPr>
        <p:spPr>
          <a:xfrm>
            <a:off x="8979217" y="3380422"/>
            <a:ext cx="2578417" cy="533400"/>
          </a:xfrm>
          <a:prstGeom prst="roundRect">
            <a:avLst>
              <a:gd name="adj" fmla="val 14285"/>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1617" y="3494722"/>
            <a:ext cx="2254567" cy="306577"/>
          </a:xfrm>
          <a:prstGeom prst="rect">
            <a:avLst/>
          </a:prstGeom>
          <a:noFill/>
        </p:spPr>
        <p:txBody>
          <a:bodyPr wrap="square" lIns="0" rIns="0" tIns="0" bIns="0" anchor="t">
            <a:spAutoFit/>
          </a:bodyPr>
          <a:lstStyle/>
          <a:p>
            <a:pPr algn="l"/>
            <a:r>
              <a:rPr sz="1700" b="1">
                <a:solidFill>
                  <a:srgbClr val="1554A5"/>
                </a:solidFill>
                <a:latin typeface="Calibri"/>
              </a:rPr>
              <a:t>−0,034</a:t>
            </a:r>
          </a:p>
        </p:txBody>
      </p:sp>
      <p:sp>
        <p:nvSpPr>
          <p:cNvPr id="43" name="TextBox 42"/>
          <p:cNvSpPr txBox="1"/>
          <p:nvPr/>
        </p:nvSpPr>
        <p:spPr>
          <a:xfrm>
            <a:off x="9131617" y="3723322"/>
            <a:ext cx="2254567" cy="153288"/>
          </a:xfrm>
          <a:prstGeom prst="rect">
            <a:avLst/>
          </a:prstGeom>
          <a:noFill/>
        </p:spPr>
        <p:txBody>
          <a:bodyPr wrap="square" lIns="0" rIns="0" tIns="0" bIns="0" anchor="t">
            <a:spAutoFit/>
          </a:bodyPr>
          <a:lstStyle/>
          <a:p>
            <a:pPr algn="l"/>
            <a:r>
              <a:rPr sz="850" b="0">
                <a:solidFill>
                  <a:srgbClr val="2C4A72"/>
                </a:solidFill>
                <a:latin typeface="Calibri"/>
              </a:rPr>
              <a:t>kém Gemini 2.5 Pro</a:t>
            </a:r>
          </a:p>
        </p:txBody>
      </p:sp>
      <p:sp>
        <p:nvSpPr>
          <p:cNvPr id="44" name="Rounded Rectangle 43"/>
          <p:cNvSpPr/>
          <p:nvPr/>
        </p:nvSpPr>
        <p:spPr>
          <a:xfrm>
            <a:off x="6286500" y="4066222"/>
            <a:ext cx="5271135" cy="742950"/>
          </a:xfrm>
          <a:prstGeom prst="roundRect">
            <a:avLst>
              <a:gd name="adj" fmla="val 12820"/>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7000" y="4237672"/>
            <a:ext cx="4890135" cy="571500"/>
          </a:xfrm>
          <a:prstGeom prst="rect">
            <a:avLst/>
          </a:prstGeom>
          <a:noFill/>
        </p:spPr>
        <p:txBody>
          <a:bodyPr wrap="square" lIns="0" rIns="0" tIns="0" bIns="0" anchor="t">
            <a:spAutoFit/>
          </a:bodyPr>
          <a:lstStyle/>
          <a:p>
            <a:pPr algn="l">
              <a:lnSpc>
                <a:spcPct val="140000"/>
              </a:lnSpc>
            </a:pPr>
            <a:r>
              <a:rPr sz="1050" b="0">
                <a:solidFill>
                  <a:srgbClr val="DCE7F5"/>
                </a:solidFill>
                <a:latin typeface="Calibri"/>
              </a:rPr>
              <a:t>Mô hình chạy </a:t>
            </a:r>
            <a:r>
              <a:rPr sz="1050" b="1">
                <a:solidFill>
                  <a:srgbClr val="8FC4F5"/>
                </a:solidFill>
                <a:latin typeface="Calibri"/>
              </a:rPr>
              <a:t>ngay tại chỗ</a:t>
            </a:r>
            <a:r>
              <a:rPr sz="1050" b="0">
                <a:solidFill>
                  <a:srgbClr val="DCE7F5"/>
                </a:solidFill>
                <a:latin typeface="Calibri"/>
              </a:rPr>
              <a:t>, không gửi dữ liệu ra ngoài. Với hệ xử lý dữ liệu công dân, đây là giá trị thực tế.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365" y="503872"/>
            <a:ext cx="10923270" cy="571500"/>
          </a:xfrm>
          <a:prstGeom prst="rect">
            <a:avLst/>
          </a:prstGeom>
          <a:noFill/>
        </p:spPr>
        <p:txBody>
          <a:bodyPr wrap="square" lIns="0" rIns="0" tIns="0" bIns="0" anchor="t">
            <a:spAutoFit/>
          </a:bodyPr>
          <a:lstStyle/>
          <a:p>
            <a:pPr algn="l"/>
            <a:r>
              <a:rPr sz="3000" b="1">
                <a:solidFill>
                  <a:srgbClr val="1E3050"/>
                </a:solidFill>
                <a:latin typeface="Calibri"/>
              </a:rPr>
              <a:t>Nút thắt đã dịch chỗ</a:t>
            </a:r>
          </a:p>
        </p:txBody>
      </p:sp>
      <p:sp>
        <p:nvSpPr>
          <p:cNvPr id="4" name="Rectangle 3"/>
          <p:cNvSpPr/>
          <p:nvPr/>
        </p:nvSpPr>
        <p:spPr>
          <a:xfrm>
            <a:off x="634365" y="1056322"/>
            <a:ext cx="5680100" cy="22859"/>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4365" y="1342072"/>
            <a:ext cx="5271135" cy="1600200"/>
          </a:xfrm>
          <a:prstGeom prst="roundRect">
            <a:avLst>
              <a:gd name="adj" fmla="val 7738"/>
            </a:avLst>
          </a:prstGeom>
          <a:solidFill>
            <a:srgbClr val="FD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2965" y="1551622"/>
            <a:ext cx="4813935" cy="153288"/>
          </a:xfrm>
          <a:prstGeom prst="rect">
            <a:avLst/>
          </a:prstGeom>
          <a:noFill/>
        </p:spPr>
        <p:txBody>
          <a:bodyPr wrap="square" lIns="0" rIns="0" tIns="0" bIns="0" anchor="t">
            <a:spAutoFit/>
          </a:bodyPr>
          <a:lstStyle/>
          <a:p>
            <a:pPr algn="l"/>
            <a:r>
              <a:rPr sz="850" b="1" spc="110">
                <a:solidFill>
                  <a:srgbClr val="8A4708"/>
                </a:solidFill>
                <a:latin typeface="Calibri"/>
              </a:rPr>
              <a:t>BỘ SINH TRÍCH THEO LƯỢNG NGỮ CẢNH NHẬN ĐƯỢC</a:t>
            </a:r>
          </a:p>
        </p:txBody>
      </p:sp>
      <p:sp>
        <p:nvSpPr>
          <p:cNvPr id="7" name="TextBox 6"/>
          <p:cNvSpPr txBox="1"/>
          <p:nvPr/>
        </p:nvSpPr>
        <p:spPr>
          <a:xfrm>
            <a:off x="862965" y="1913572"/>
            <a:ext cx="1047749" cy="225424"/>
          </a:xfrm>
          <a:prstGeom prst="rect">
            <a:avLst/>
          </a:prstGeom>
          <a:noFill/>
        </p:spPr>
        <p:txBody>
          <a:bodyPr wrap="square" lIns="0" rIns="0" tIns="0" bIns="0" anchor="t">
            <a:spAutoFit/>
          </a:bodyPr>
          <a:lstStyle/>
          <a:p>
            <a:pPr algn="l"/>
            <a:r>
              <a:rPr sz="1250" b="1">
                <a:solidFill>
                  <a:srgbClr val="1E3050"/>
                </a:solidFill>
                <a:latin typeface="Calibri"/>
              </a:rPr>
              <a:t>Hệ trích</a:t>
            </a:r>
          </a:p>
        </p:txBody>
      </p:sp>
      <p:sp>
        <p:nvSpPr>
          <p:cNvPr id="8" name="Rounded Rectangle 7"/>
          <p:cNvSpPr/>
          <p:nvPr/>
        </p:nvSpPr>
        <p:spPr>
          <a:xfrm>
            <a:off x="1967864" y="1875472"/>
            <a:ext cx="400050" cy="266700"/>
          </a:xfrm>
          <a:prstGeom prst="roundRect">
            <a:avLst>
              <a:gd name="adj" fmla="val 21428"/>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63165" y="1875472"/>
            <a:ext cx="400050" cy="266700"/>
          </a:xfrm>
          <a:prstGeom prst="roundRect">
            <a:avLst>
              <a:gd name="adj" fmla="val 21428"/>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58465" y="1875472"/>
            <a:ext cx="400050" cy="266700"/>
          </a:xfrm>
          <a:prstGeom prst="roundRect">
            <a:avLst>
              <a:gd name="adj" fmla="val 21428"/>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58465" y="1875472"/>
            <a:ext cx="400050" cy="266700"/>
          </a:xfrm>
          <a:prstGeom prst="roundRect">
            <a:avLst>
              <a:gd name="adj" fmla="val 21428"/>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7115" y="1884997"/>
            <a:ext cx="857250" cy="360679"/>
          </a:xfrm>
          <a:prstGeom prst="rect">
            <a:avLst/>
          </a:prstGeom>
          <a:noFill/>
        </p:spPr>
        <p:txBody>
          <a:bodyPr wrap="square" lIns="0" rIns="0" tIns="0" bIns="0" anchor="t">
            <a:spAutoFit/>
          </a:bodyPr>
          <a:lstStyle/>
          <a:p>
            <a:pPr algn="l"/>
            <a:r>
              <a:rPr sz="2000" b="1">
                <a:solidFill>
                  <a:srgbClr val="B45309"/>
                </a:solidFill>
                <a:latin typeface="Calibri"/>
              </a:rPr>
              <a:t>2,71</a:t>
            </a:r>
          </a:p>
        </p:txBody>
      </p:sp>
      <p:sp>
        <p:nvSpPr>
          <p:cNvPr id="13" name="TextBox 12"/>
          <p:cNvSpPr txBox="1"/>
          <p:nvPr/>
        </p:nvSpPr>
        <p:spPr>
          <a:xfrm>
            <a:off x="862965" y="2351722"/>
            <a:ext cx="1047749" cy="225424"/>
          </a:xfrm>
          <a:prstGeom prst="rect">
            <a:avLst/>
          </a:prstGeom>
          <a:noFill/>
        </p:spPr>
        <p:txBody>
          <a:bodyPr wrap="square" lIns="0" rIns="0" tIns="0" bIns="0" anchor="t">
            <a:spAutoFit/>
          </a:bodyPr>
          <a:lstStyle/>
          <a:p>
            <a:pPr algn="l"/>
            <a:r>
              <a:rPr sz="1250" b="1">
                <a:solidFill>
                  <a:srgbClr val="1E3050"/>
                </a:solidFill>
                <a:latin typeface="Calibri"/>
              </a:rPr>
              <a:t>Đáp án cần</a:t>
            </a:r>
          </a:p>
        </p:txBody>
      </p:sp>
      <p:sp>
        <p:nvSpPr>
          <p:cNvPr id="14" name="Rounded Rectangle 13"/>
          <p:cNvSpPr/>
          <p:nvPr/>
        </p:nvSpPr>
        <p:spPr>
          <a:xfrm>
            <a:off x="1967864" y="2313622"/>
            <a:ext cx="400050" cy="266700"/>
          </a:xfrm>
          <a:prstGeom prst="roundRect">
            <a:avLst>
              <a:gd name="adj" fmla="val 21428"/>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63165" y="2313622"/>
            <a:ext cx="400050" cy="266700"/>
          </a:xfrm>
          <a:prstGeom prst="roundRect">
            <a:avLst>
              <a:gd name="adj" fmla="val 21428"/>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63165" y="2313622"/>
            <a:ext cx="400050" cy="266700"/>
          </a:xfrm>
          <a:prstGeom prst="roundRect">
            <a:avLst>
              <a:gd name="adj" fmla="val 21428"/>
            </a:avLst>
          </a:prstGeom>
          <a:solidFill>
            <a:srgbClr val="FFFFFF"/>
          </a:solidFill>
          <a:ln w="12700">
            <a:solidFill>
              <a:srgbClr val="155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7115" y="2323147"/>
            <a:ext cx="857250" cy="360679"/>
          </a:xfrm>
          <a:prstGeom prst="rect">
            <a:avLst/>
          </a:prstGeom>
          <a:noFill/>
        </p:spPr>
        <p:txBody>
          <a:bodyPr wrap="square" lIns="0" rIns="0" tIns="0" bIns="0" anchor="t">
            <a:spAutoFit/>
          </a:bodyPr>
          <a:lstStyle/>
          <a:p>
            <a:pPr algn="l"/>
            <a:r>
              <a:rPr sz="2000" b="1">
                <a:solidFill>
                  <a:srgbClr val="1554A5"/>
                </a:solidFill>
                <a:latin typeface="Calibri"/>
              </a:rPr>
              <a:t>1,57</a:t>
            </a:r>
          </a:p>
        </p:txBody>
      </p:sp>
      <p:sp>
        <p:nvSpPr>
          <p:cNvPr id="18" name="Rounded Rectangle 17"/>
          <p:cNvSpPr/>
          <p:nvPr/>
        </p:nvSpPr>
        <p:spPr>
          <a:xfrm>
            <a:off x="1967864" y="2751772"/>
            <a:ext cx="1809750" cy="247649"/>
          </a:xfrm>
          <a:prstGeom prst="roundRect">
            <a:avLst>
              <a:gd name="adj" fmla="val 50000"/>
            </a:avLst>
          </a:prstGeom>
          <a:solidFill>
            <a:srgbClr val="F7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67864" y="2808922"/>
            <a:ext cx="1809750" cy="189356"/>
          </a:xfrm>
          <a:prstGeom prst="rect">
            <a:avLst/>
          </a:prstGeom>
          <a:noFill/>
        </p:spPr>
        <p:txBody>
          <a:bodyPr wrap="square" lIns="0" rIns="0" tIns="0" bIns="0" anchor="t">
            <a:spAutoFit/>
          </a:bodyPr>
          <a:lstStyle/>
          <a:p>
            <a:pPr algn="ctr"/>
            <a:r>
              <a:rPr sz="1050" b="1">
                <a:solidFill>
                  <a:srgbClr val="B45309"/>
                </a:solidFill>
                <a:latin typeface="Calibri"/>
              </a:rPr>
              <a:t>thừa 1,14 trích dẫn</a:t>
            </a:r>
          </a:p>
        </p:txBody>
      </p:sp>
      <p:sp>
        <p:nvSpPr>
          <p:cNvPr id="20" name="TextBox 19"/>
          <p:cNvSpPr txBox="1"/>
          <p:nvPr/>
        </p:nvSpPr>
        <p:spPr>
          <a:xfrm>
            <a:off x="6286500" y="1437322"/>
            <a:ext cx="5271135" cy="533400"/>
          </a:xfrm>
          <a:prstGeom prst="rect">
            <a:avLst/>
          </a:prstGeom>
          <a:noFill/>
        </p:spPr>
        <p:txBody>
          <a:bodyPr wrap="square" lIns="0" rIns="0" tIns="0" bIns="0" anchor="t">
            <a:spAutoFit/>
          </a:bodyPr>
          <a:lstStyle/>
          <a:p>
            <a:pPr algn="l">
              <a:lnSpc>
                <a:spcPct val="130000"/>
              </a:lnSpc>
            </a:pPr>
            <a:r>
              <a:rPr sz="1600" b="1">
                <a:solidFill>
                  <a:srgbClr val="1E3050"/>
                </a:solidFill>
                <a:latin typeface="Calibri"/>
              </a:rPr>
              <a:t>Bao phủ tăng </a:t>
            </a:r>
            <a:r>
              <a:rPr sz="1600" b="1">
                <a:solidFill>
                  <a:srgbClr val="1554A5"/>
                </a:solidFill>
                <a:latin typeface="Calibri"/>
              </a:rPr>
              <a:t>+0,116</a:t>
            </a:r>
            <a:r>
              <a:rPr sz="1600" b="1">
                <a:solidFill>
                  <a:srgbClr val="1E3050"/>
                </a:solidFill>
                <a:latin typeface="Calibri"/>
              </a:rPr>
              <a:t> nhưng F1 của khâu sinh </a:t>
            </a:r>
            <a:r>
              <a:rPr sz="1600" b="1">
                <a:solidFill>
                  <a:srgbClr val="B45309"/>
                </a:solidFill>
                <a:latin typeface="Calibri"/>
              </a:rPr>
              <a:t>không thay đổi</a:t>
            </a:r>
          </a:p>
        </p:txBody>
      </p:sp>
      <p:sp>
        <p:nvSpPr>
          <p:cNvPr id="21" name="TextBox 20"/>
          <p:cNvSpPr txBox="1"/>
          <p:nvPr/>
        </p:nvSpPr>
        <p:spPr>
          <a:xfrm>
            <a:off x="6286500" y="2065972"/>
            <a:ext cx="5271135" cy="857250"/>
          </a:xfrm>
          <a:prstGeom prst="rect">
            <a:avLst/>
          </a:prstGeom>
          <a:noFill/>
        </p:spPr>
        <p:txBody>
          <a:bodyPr wrap="square" lIns="0" rIns="0" tIns="0" bIns="0" anchor="t">
            <a:spAutoFit/>
          </a:bodyPr>
          <a:lstStyle/>
          <a:p>
            <a:pPr algn="l">
              <a:lnSpc>
                <a:spcPct val="145000"/>
              </a:lnSpc>
            </a:pPr>
            <a:r>
              <a:rPr sz="1100" b="0">
                <a:solidFill>
                  <a:srgbClr val="5A6B85"/>
                </a:solidFill>
                <a:latin typeface="Calibri"/>
              </a:rPr>
              <a:t>Hệ trích trung bình </a:t>
            </a:r>
            <a:r>
              <a:rPr sz="1100" b="1">
                <a:solidFill>
                  <a:srgbClr val="1E3050"/>
                </a:solidFill>
                <a:latin typeface="Calibri"/>
              </a:rPr>
              <a:t>2,71</a:t>
            </a:r>
            <a:r>
              <a:rPr sz="1100" b="0">
                <a:solidFill>
                  <a:srgbClr val="5A6B85"/>
                </a:solidFill>
                <a:latin typeface="Calibri"/>
              </a:rPr>
              <a:t> điều khoản trong khi đáp án chuẩn chỉ cần </a:t>
            </a:r>
            <a:r>
              <a:rPr sz="1100" b="1">
                <a:solidFill>
                  <a:srgbClr val="1E3050"/>
                </a:solidFill>
                <a:latin typeface="Calibri"/>
              </a:rPr>
              <a:t>1,57</a:t>
            </a:r>
            <a:r>
              <a:rPr sz="1100" b="0">
                <a:solidFill>
                  <a:srgbClr val="5A6B85"/>
                </a:solidFill>
                <a:latin typeface="Calibri"/>
              </a:rPr>
              <a:t>. Mỗi trích dẫn thừa kéo F1 xuống, nên ngữ cảnh tốt hơn </a:t>
            </a:r>
            <a:r>
              <a:rPr sz="1100" b="1">
                <a:solidFill>
                  <a:srgbClr val="1E3050"/>
                </a:solidFill>
                <a:latin typeface="Calibri"/>
              </a:rPr>
              <a:t>không tự chuyển thành</a:t>
            </a:r>
            <a:r>
              <a:rPr sz="1100" b="0">
                <a:solidFill>
                  <a:srgbClr val="5A6B85"/>
                </a:solidFill>
                <a:latin typeface="Calibri"/>
              </a:rPr>
              <a:t> câu trả lời tốt hơn.</a:t>
            </a:r>
          </a:p>
          <a:p>
            <a:pPr algn="l">
              <a:lnSpc>
                <a:spcPct val="145000"/>
              </a:lnSpc>
            </a:pPr>
            <a:r>
              <a:rPr sz="600" b="0">
                <a:solidFill>
                  <a:srgbClr val="5A6B85"/>
                </a:solidFill>
                <a:latin typeface="Calibri"/>
              </a:rPr>
              <a:t/>
            </a:r>
          </a:p>
          <a:p>
            <a:pPr algn="l">
              <a:lnSpc>
                <a:spcPct val="145000"/>
              </a:lnSpc>
            </a:pPr>
            <a:r>
              <a:rPr sz="900" b="0">
                <a:solidFill>
                  <a:srgbClr val="5A6B85"/>
                </a:solidFill>
                <a:latin typeface="Calibri"/>
              </a:rPr>
              <a:t>Đo trên tập kiểm thử mới, 28 câu.</a:t>
            </a:r>
          </a:p>
        </p:txBody>
      </p:sp>
      <p:sp>
        <p:nvSpPr>
          <p:cNvPr id="22" name="TextBox 21"/>
          <p:cNvSpPr txBox="1"/>
          <p:nvPr/>
        </p:nvSpPr>
        <p:spPr>
          <a:xfrm>
            <a:off x="634365" y="3208972"/>
            <a:ext cx="5271135" cy="153288"/>
          </a:xfrm>
          <a:prstGeom prst="rect">
            <a:avLst/>
          </a:prstGeom>
          <a:noFill/>
        </p:spPr>
        <p:txBody>
          <a:bodyPr wrap="square" lIns="0" rIns="0" tIns="0" bIns="0" anchor="t">
            <a:spAutoFit/>
          </a:bodyPr>
          <a:lstStyle/>
          <a:p>
            <a:pPr algn="l"/>
            <a:r>
              <a:rPr sz="850" b="1" spc="110">
                <a:solidFill>
                  <a:srgbClr val="5A6B85"/>
                </a:solidFill>
                <a:latin typeface="Calibri"/>
              </a:rPr>
              <a:t>CÒN BAO NHIÊU DƯ ĐỊA NẾU CHỌN LỌC TRÍCH DẪN TỐI ƯU</a:t>
            </a:r>
          </a:p>
        </p:txBody>
      </p:sp>
      <p:sp>
        <p:nvSpPr>
          <p:cNvPr id="23" name="TextBox 22"/>
          <p:cNvSpPr txBox="1"/>
          <p:nvPr/>
        </p:nvSpPr>
        <p:spPr>
          <a:xfrm>
            <a:off x="634365" y="3499484"/>
            <a:ext cx="2013204" cy="198373"/>
          </a:xfrm>
          <a:prstGeom prst="rect">
            <a:avLst/>
          </a:prstGeom>
          <a:noFill/>
        </p:spPr>
        <p:txBody>
          <a:bodyPr wrap="square" lIns="0" rIns="0" tIns="0" bIns="0" anchor="ctr">
            <a:spAutoFit/>
          </a:bodyPr>
          <a:lstStyle/>
          <a:p>
            <a:pPr algn="l"/>
            <a:r>
              <a:rPr sz="1100" b="0">
                <a:solidFill>
                  <a:srgbClr val="1E3050"/>
                </a:solidFill>
                <a:latin typeface="Calibri"/>
              </a:rPr>
              <a:t>F1 khâu sinh hiện tại</a:t>
            </a:r>
          </a:p>
        </p:txBody>
      </p:sp>
      <p:sp>
        <p:nvSpPr>
          <p:cNvPr id="24" name="Rounded Rectangle 23"/>
          <p:cNvSpPr/>
          <p:nvPr/>
        </p:nvSpPr>
        <p:spPr>
          <a:xfrm>
            <a:off x="2742819" y="3494722"/>
            <a:ext cx="2301544" cy="161925"/>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742819" y="3494722"/>
            <a:ext cx="1314182" cy="161925"/>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58663" y="3499484"/>
            <a:ext cx="632536" cy="216408"/>
          </a:xfrm>
          <a:prstGeom prst="rect">
            <a:avLst/>
          </a:prstGeom>
          <a:noFill/>
        </p:spPr>
        <p:txBody>
          <a:bodyPr wrap="square" lIns="0" rIns="0" tIns="0" bIns="0" anchor="ctr">
            <a:spAutoFit/>
          </a:bodyPr>
          <a:lstStyle/>
          <a:p>
            <a:pPr algn="r"/>
            <a:r>
              <a:rPr sz="1200" b="1">
                <a:solidFill>
                  <a:srgbClr val="1E3050"/>
                </a:solidFill>
                <a:latin typeface="Calibri"/>
              </a:rPr>
              <a:t>0,571</a:t>
            </a:r>
          </a:p>
        </p:txBody>
      </p:sp>
      <p:sp>
        <p:nvSpPr>
          <p:cNvPr id="27" name="TextBox 26"/>
          <p:cNvSpPr txBox="1"/>
          <p:nvPr/>
        </p:nvSpPr>
        <p:spPr>
          <a:xfrm>
            <a:off x="634365" y="3794759"/>
            <a:ext cx="2013204" cy="198373"/>
          </a:xfrm>
          <a:prstGeom prst="rect">
            <a:avLst/>
          </a:prstGeom>
          <a:noFill/>
        </p:spPr>
        <p:txBody>
          <a:bodyPr wrap="square" lIns="0" rIns="0" tIns="0" bIns="0" anchor="ctr">
            <a:spAutoFit/>
          </a:bodyPr>
          <a:lstStyle/>
          <a:p>
            <a:pPr algn="l"/>
            <a:r>
              <a:rPr sz="1100" b="1">
                <a:solidFill>
                  <a:srgbClr val="1E3050"/>
                </a:solidFill>
                <a:latin typeface="Calibri"/>
              </a:rPr>
              <a:t>Nếu chọn lọc tối ưu</a:t>
            </a:r>
          </a:p>
        </p:txBody>
      </p:sp>
      <p:sp>
        <p:nvSpPr>
          <p:cNvPr id="28" name="Rounded Rectangle 27"/>
          <p:cNvSpPr/>
          <p:nvPr/>
        </p:nvSpPr>
        <p:spPr>
          <a:xfrm>
            <a:off x="2742819" y="3789997"/>
            <a:ext cx="2301544" cy="161925"/>
          </a:xfrm>
          <a:prstGeom prst="roundRect">
            <a:avLst>
              <a:gd name="adj" fmla="val 50000"/>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2819" y="3789997"/>
            <a:ext cx="1314182" cy="161925"/>
          </a:xfrm>
          <a:prstGeom prst="roundRect">
            <a:avLst>
              <a:gd name="adj" fmla="val 50000"/>
            </a:avLst>
          </a:prstGeom>
          <a:solidFill>
            <a:srgbClr val="A9B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057001" y="3789997"/>
            <a:ext cx="393564" cy="161925"/>
          </a:xfrm>
          <a:prstGeom prst="roundRect">
            <a:avLst>
              <a:gd name="adj" fmla="val 50000"/>
            </a:avLst>
          </a:prstGeom>
          <a:solidFill>
            <a:srgbClr val="15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58663" y="3794759"/>
            <a:ext cx="632536" cy="216408"/>
          </a:xfrm>
          <a:prstGeom prst="rect">
            <a:avLst/>
          </a:prstGeom>
          <a:noFill/>
        </p:spPr>
        <p:txBody>
          <a:bodyPr wrap="square" lIns="0" rIns="0" tIns="0" bIns="0" anchor="ctr">
            <a:spAutoFit/>
          </a:bodyPr>
          <a:lstStyle/>
          <a:p>
            <a:pPr algn="r"/>
            <a:r>
              <a:rPr sz="1200" b="1">
                <a:solidFill>
                  <a:srgbClr val="1554A5"/>
                </a:solidFill>
                <a:latin typeface="Calibri"/>
              </a:rPr>
              <a:t>0,742</a:t>
            </a:r>
          </a:p>
        </p:txBody>
      </p:sp>
      <p:sp>
        <p:nvSpPr>
          <p:cNvPr id="32" name="Rounded Rectangle 31"/>
          <p:cNvSpPr/>
          <p:nvPr/>
        </p:nvSpPr>
        <p:spPr>
          <a:xfrm>
            <a:off x="6286500" y="3323272"/>
            <a:ext cx="5271135" cy="838200"/>
          </a:xfrm>
          <a:prstGeom prst="roundRect">
            <a:avLst>
              <a:gd name="adj" fmla="val 11363"/>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6050" y="3456622"/>
            <a:ext cx="4852034" cy="468883"/>
          </a:xfrm>
          <a:prstGeom prst="rect">
            <a:avLst/>
          </a:prstGeom>
          <a:noFill/>
        </p:spPr>
        <p:txBody>
          <a:bodyPr wrap="square" lIns="0" rIns="0" tIns="0" bIns="0" anchor="t">
            <a:spAutoFit/>
          </a:bodyPr>
          <a:lstStyle/>
          <a:p>
            <a:pPr algn="l"/>
            <a:r>
              <a:rPr sz="2600" b="1">
                <a:solidFill>
                  <a:srgbClr val="1554A5"/>
                </a:solidFill>
                <a:latin typeface="Calibri"/>
              </a:rPr>
              <a:t>+0,171</a:t>
            </a:r>
          </a:p>
        </p:txBody>
      </p:sp>
      <p:sp>
        <p:nvSpPr>
          <p:cNvPr id="34" name="TextBox 33"/>
          <p:cNvSpPr txBox="1"/>
          <p:nvPr/>
        </p:nvSpPr>
        <p:spPr>
          <a:xfrm>
            <a:off x="6496050" y="3799522"/>
            <a:ext cx="4852034" cy="285750"/>
          </a:xfrm>
          <a:prstGeom prst="rect">
            <a:avLst/>
          </a:prstGeom>
          <a:noFill/>
        </p:spPr>
        <p:txBody>
          <a:bodyPr wrap="square" lIns="0" rIns="0" tIns="0" bIns="0" anchor="t">
            <a:spAutoFit/>
          </a:bodyPr>
          <a:lstStyle/>
          <a:p>
            <a:pPr algn="l">
              <a:lnSpc>
                <a:spcPct val="130000"/>
              </a:lnSpc>
            </a:pPr>
            <a:r>
              <a:rPr sz="1000" b="0">
                <a:solidFill>
                  <a:srgbClr val="2C4A72"/>
                </a:solidFill>
                <a:latin typeface="Calibri"/>
              </a:rPr>
              <a:t>dư địa còn lại — </a:t>
            </a:r>
            <a:r>
              <a:rPr sz="1000" b="1">
                <a:solidFill>
                  <a:srgbClr val="1E3050"/>
                </a:solidFill>
                <a:latin typeface="Calibri"/>
              </a:rPr>
              <a:t>lớn hơn toàn bộ mức cải thiện của đợt này (+0,116)</a:t>
            </a:r>
          </a:p>
        </p:txBody>
      </p:sp>
      <p:sp>
        <p:nvSpPr>
          <p:cNvPr id="35" name="Rounded Rectangle 34"/>
          <p:cNvSpPr/>
          <p:nvPr/>
        </p:nvSpPr>
        <p:spPr>
          <a:xfrm>
            <a:off x="634365" y="5763577"/>
            <a:ext cx="10923270" cy="533400"/>
          </a:xfrm>
          <a:prstGeom prst="roundRect">
            <a:avLst>
              <a:gd name="adj" fmla="val 17857"/>
            </a:avLst>
          </a:prstGeom>
          <a:solidFill>
            <a:srgbClr val="1E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3915" y="5935027"/>
            <a:ext cx="10504169" cy="234441"/>
          </a:xfrm>
          <a:prstGeom prst="rect">
            <a:avLst/>
          </a:prstGeom>
          <a:noFill/>
        </p:spPr>
        <p:txBody>
          <a:bodyPr wrap="square" lIns="0" rIns="0" tIns="0" bIns="0" anchor="t">
            <a:spAutoFit/>
          </a:bodyPr>
          <a:lstStyle/>
          <a:p>
            <a:pPr algn="l"/>
            <a:r>
              <a:rPr sz="1300" b="1">
                <a:solidFill>
                  <a:srgbClr val="FFFFFF"/>
                </a:solidFill>
                <a:latin typeface="Calibri"/>
              </a:rPr>
              <a:t>Khâu hạn chế nhất đã chuyển từ </a:t>
            </a:r>
            <a:r>
              <a:rPr sz="1300" b="1">
                <a:solidFill>
                  <a:srgbClr val="8FC4F5"/>
                </a:solidFill>
                <a:latin typeface="Calibri"/>
              </a:rPr>
              <a:t>truy hồi</a:t>
            </a:r>
            <a:r>
              <a:rPr sz="1300" b="1">
                <a:solidFill>
                  <a:srgbClr val="FFFFFF"/>
                </a:solidFill>
                <a:latin typeface="Calibri"/>
              </a:rPr>
              <a:t> sang </a:t>
            </a:r>
            <a:r>
              <a:rPr sz="1300" b="1">
                <a:solidFill>
                  <a:srgbClr val="8FC4F5"/>
                </a:solidFill>
                <a:latin typeface="Calibri"/>
              </a:rPr>
              <a:t>chọn trích dẫn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